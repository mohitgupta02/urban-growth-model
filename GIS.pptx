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 id="2147483658" r:id="rId2"/>
  </p:sldMasterIdLst>
  <p:notesMasterIdLst>
    <p:notesMasterId r:id="rId19"/>
  </p:notesMasterIdLst>
  <p:sldIdLst>
    <p:sldId id="296" r:id="rId3"/>
    <p:sldId id="257" r:id="rId4"/>
    <p:sldId id="298" r:id="rId5"/>
    <p:sldId id="297" r:id="rId6"/>
    <p:sldId id="299" r:id="rId7"/>
    <p:sldId id="267" r:id="rId8"/>
    <p:sldId id="303" r:id="rId9"/>
    <p:sldId id="268" r:id="rId10"/>
    <p:sldId id="304" r:id="rId11"/>
    <p:sldId id="305" r:id="rId12"/>
    <p:sldId id="306" r:id="rId13"/>
    <p:sldId id="307" r:id="rId14"/>
    <p:sldId id="308" r:id="rId15"/>
    <p:sldId id="309" r:id="rId16"/>
    <p:sldId id="310" r:id="rId17"/>
    <p:sldId id="279"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9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7F627C-A79C-4CEA-9F43-E7185F252452}">
  <a:tblStyle styleId="{277F627C-A79C-4CEA-9F43-E7185F25245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45F09D-0C3F-4549-A737-6A49AB54CD0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66" y="4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884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1117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5830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1735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0036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831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1900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2207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9641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234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8285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6761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12"/>
        <p:cNvGrpSpPr/>
        <p:nvPr/>
      </p:nvGrpSpPr>
      <p:grpSpPr>
        <a:xfrm>
          <a:off x="0" y="0"/>
          <a:ext cx="0" cy="0"/>
          <a:chOff x="0" y="0"/>
          <a:chExt cx="0" cy="0"/>
        </a:xfrm>
      </p:grpSpPr>
      <p:sp>
        <p:nvSpPr>
          <p:cNvPr id="213" name="Google Shape;213;p7"/>
          <p:cNvSpPr/>
          <p:nvPr/>
        </p:nvSpPr>
        <p:spPr>
          <a:xfrm rot="5400000">
            <a:off x="499599" y="157100"/>
            <a:ext cx="1146000" cy="13233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214" name="Google Shape;214;p7"/>
          <p:cNvSpPr txBox="1">
            <a:spLocks noGrp="1"/>
          </p:cNvSpPr>
          <p:nvPr>
            <p:ph type="title"/>
          </p:nvPr>
        </p:nvSpPr>
        <p:spPr>
          <a:xfrm>
            <a:off x="1732700" y="1735600"/>
            <a:ext cx="4944300" cy="645300"/>
          </a:xfrm>
          <a:prstGeom prst="rect">
            <a:avLst/>
          </a:prstGeom>
        </p:spPr>
        <p:txBody>
          <a:bodyPr spcFirstLastPara="1" wrap="square" lIns="91425" tIns="91425" rIns="91425" bIns="91425" anchor="b"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15" name="Google Shape;215;p7"/>
          <p:cNvSpPr txBox="1">
            <a:spLocks noGrp="1"/>
          </p:cNvSpPr>
          <p:nvPr>
            <p:ph type="body" idx="1"/>
          </p:nvPr>
        </p:nvSpPr>
        <p:spPr>
          <a:xfrm>
            <a:off x="1732700" y="2380900"/>
            <a:ext cx="2176800" cy="25449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6" name="Google Shape;216;p7"/>
          <p:cNvSpPr txBox="1">
            <a:spLocks noGrp="1"/>
          </p:cNvSpPr>
          <p:nvPr>
            <p:ph type="body" idx="2"/>
          </p:nvPr>
        </p:nvSpPr>
        <p:spPr>
          <a:xfrm>
            <a:off x="4020972" y="2380900"/>
            <a:ext cx="2176800" cy="25449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7" name="Google Shape;217;p7"/>
          <p:cNvSpPr txBox="1">
            <a:spLocks noGrp="1"/>
          </p:cNvSpPr>
          <p:nvPr>
            <p:ph type="body" idx="3"/>
          </p:nvPr>
        </p:nvSpPr>
        <p:spPr>
          <a:xfrm>
            <a:off x="6309245" y="2380900"/>
            <a:ext cx="2176800" cy="25449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8" name="Google Shape;218;p7"/>
          <p:cNvSpPr/>
          <p:nvPr/>
        </p:nvSpPr>
        <p:spPr>
          <a:xfrm rot="10800000" flipH="1">
            <a:off x="-123826" y="1058975"/>
            <a:ext cx="819900" cy="7101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rot="10800000" flipH="1">
            <a:off x="638175" y="1440100"/>
            <a:ext cx="428700" cy="371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rot="10800000" flipH="1">
            <a:off x="1495424" y="-131650"/>
            <a:ext cx="819900" cy="710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rot="10800000" flipH="1">
            <a:off x="327800" y="88925"/>
            <a:ext cx="358800" cy="3105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 name="Google Shape;222;p7"/>
          <p:cNvGrpSpPr/>
          <p:nvPr/>
        </p:nvGrpSpPr>
        <p:grpSpPr>
          <a:xfrm>
            <a:off x="1729784" y="61068"/>
            <a:ext cx="351204" cy="324661"/>
            <a:chOff x="5975075" y="2327500"/>
            <a:chExt cx="420100" cy="388350"/>
          </a:xfrm>
        </p:grpSpPr>
        <p:sp>
          <p:nvSpPr>
            <p:cNvPr id="223" name="Google Shape;223;p7"/>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7"/>
          <p:cNvSpPr/>
          <p:nvPr/>
        </p:nvSpPr>
        <p:spPr>
          <a:xfrm>
            <a:off x="203100" y="1270177"/>
            <a:ext cx="166061" cy="28770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 name="Google Shape;226;p7"/>
          <p:cNvGrpSpPr/>
          <p:nvPr/>
        </p:nvGrpSpPr>
        <p:grpSpPr>
          <a:xfrm>
            <a:off x="904276" y="515192"/>
            <a:ext cx="382958" cy="607111"/>
            <a:chOff x="6718575" y="2318625"/>
            <a:chExt cx="256950" cy="407375"/>
          </a:xfrm>
        </p:grpSpPr>
        <p:sp>
          <p:nvSpPr>
            <p:cNvPr id="227" name="Google Shape;227;p7"/>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 name="Google Shape;235;p7"/>
          <p:cNvGrpSpPr/>
          <p:nvPr/>
        </p:nvGrpSpPr>
        <p:grpSpPr>
          <a:xfrm>
            <a:off x="335759" y="1840531"/>
            <a:ext cx="342882" cy="350068"/>
            <a:chOff x="3951850" y="2985350"/>
            <a:chExt cx="407950" cy="416500"/>
          </a:xfrm>
        </p:grpSpPr>
        <p:sp>
          <p:nvSpPr>
            <p:cNvPr id="236" name="Google Shape;236;p7"/>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7"/>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 name="Google Shape;240;p7"/>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1"/>
        <p:cNvGrpSpPr/>
        <p:nvPr/>
      </p:nvGrpSpPr>
      <p:grpSpPr>
        <a:xfrm>
          <a:off x="0" y="0"/>
          <a:ext cx="0" cy="0"/>
          <a:chOff x="0" y="0"/>
          <a:chExt cx="0" cy="0"/>
        </a:xfrm>
      </p:grpSpPr>
      <p:sp>
        <p:nvSpPr>
          <p:cNvPr id="242" name="Google Shape;242;p8"/>
          <p:cNvSpPr/>
          <p:nvPr/>
        </p:nvSpPr>
        <p:spPr>
          <a:xfrm rot="10800000" flipH="1">
            <a:off x="7663675" y="3684808"/>
            <a:ext cx="1034700" cy="8958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243" name="Google Shape;243;p8"/>
          <p:cNvSpPr/>
          <p:nvPr/>
        </p:nvSpPr>
        <p:spPr>
          <a:xfrm rot="5400000">
            <a:off x="499599" y="157100"/>
            <a:ext cx="1146000" cy="13233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244" name="Google Shape;244;p8"/>
          <p:cNvSpPr txBox="1">
            <a:spLocks noGrp="1"/>
          </p:cNvSpPr>
          <p:nvPr>
            <p:ph type="title"/>
          </p:nvPr>
        </p:nvSpPr>
        <p:spPr>
          <a:xfrm>
            <a:off x="1732700" y="821200"/>
            <a:ext cx="4944300" cy="6453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45" name="Google Shape;245;p8"/>
          <p:cNvSpPr/>
          <p:nvPr/>
        </p:nvSpPr>
        <p:spPr>
          <a:xfrm rot="10800000" flipH="1">
            <a:off x="-123826" y="1058975"/>
            <a:ext cx="819900" cy="7101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rot="10800000" flipH="1">
            <a:off x="638175" y="1440100"/>
            <a:ext cx="428700" cy="371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rot="10800000" flipH="1">
            <a:off x="1495424" y="-131650"/>
            <a:ext cx="819900" cy="710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rot="10800000" flipH="1">
            <a:off x="327800" y="88925"/>
            <a:ext cx="358800" cy="3105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8"/>
          <p:cNvGrpSpPr/>
          <p:nvPr/>
        </p:nvGrpSpPr>
        <p:grpSpPr>
          <a:xfrm>
            <a:off x="1729784" y="61068"/>
            <a:ext cx="351204" cy="324661"/>
            <a:chOff x="5975075" y="2327500"/>
            <a:chExt cx="420100" cy="388350"/>
          </a:xfrm>
        </p:grpSpPr>
        <p:sp>
          <p:nvSpPr>
            <p:cNvPr id="250" name="Google Shape;250;p8"/>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2" name="Google Shape;252;p8"/>
          <p:cNvSpPr/>
          <p:nvPr/>
        </p:nvSpPr>
        <p:spPr>
          <a:xfrm>
            <a:off x="203100" y="1270177"/>
            <a:ext cx="166061" cy="28770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 name="Google Shape;253;p8"/>
          <p:cNvGrpSpPr/>
          <p:nvPr/>
        </p:nvGrpSpPr>
        <p:grpSpPr>
          <a:xfrm>
            <a:off x="904276" y="515192"/>
            <a:ext cx="382958" cy="607111"/>
            <a:chOff x="6718575" y="2318625"/>
            <a:chExt cx="256950" cy="407375"/>
          </a:xfrm>
        </p:grpSpPr>
        <p:sp>
          <p:nvSpPr>
            <p:cNvPr id="254" name="Google Shape;254;p8"/>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8"/>
          <p:cNvGrpSpPr/>
          <p:nvPr/>
        </p:nvGrpSpPr>
        <p:grpSpPr>
          <a:xfrm>
            <a:off x="335759" y="1840531"/>
            <a:ext cx="342882" cy="350068"/>
            <a:chOff x="3951850" y="2985350"/>
            <a:chExt cx="407950" cy="416500"/>
          </a:xfrm>
        </p:grpSpPr>
        <p:sp>
          <p:nvSpPr>
            <p:cNvPr id="263" name="Google Shape;263;p8"/>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 name="Google Shape;267;p8"/>
          <p:cNvSpPr/>
          <p:nvPr/>
        </p:nvSpPr>
        <p:spPr>
          <a:xfrm rot="10800000" flipH="1">
            <a:off x="8486774" y="4230775"/>
            <a:ext cx="819900" cy="7101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rot="10800000" flipH="1">
            <a:off x="8124824" y="4615700"/>
            <a:ext cx="428700" cy="3711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rot="10800000" flipH="1">
            <a:off x="7821348" y="2935400"/>
            <a:ext cx="819900" cy="7098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rot="10800000" flipH="1">
            <a:off x="8486775" y="3512175"/>
            <a:ext cx="358800" cy="3105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8772688" y="4461808"/>
            <a:ext cx="248073" cy="248058"/>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8"/>
          <p:cNvGrpSpPr/>
          <p:nvPr/>
        </p:nvGrpSpPr>
        <p:grpSpPr>
          <a:xfrm>
            <a:off x="7354067" y="3426715"/>
            <a:ext cx="455624" cy="437054"/>
            <a:chOff x="5241175" y="4959100"/>
            <a:chExt cx="539775" cy="517775"/>
          </a:xfrm>
        </p:grpSpPr>
        <p:sp>
          <p:nvSpPr>
            <p:cNvPr id="273" name="Google Shape;273;p8"/>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8"/>
          <p:cNvSpPr/>
          <p:nvPr/>
        </p:nvSpPr>
        <p:spPr>
          <a:xfrm>
            <a:off x="8081326" y="3153875"/>
            <a:ext cx="299952" cy="272838"/>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1"/>
        <p:cNvGrpSpPr/>
        <p:nvPr/>
      </p:nvGrpSpPr>
      <p:grpSpPr>
        <a:xfrm>
          <a:off x="0" y="0"/>
          <a:ext cx="0" cy="0"/>
          <a:chOff x="0" y="0"/>
          <a:chExt cx="0" cy="0"/>
        </a:xfrm>
      </p:grpSpPr>
      <p:sp>
        <p:nvSpPr>
          <p:cNvPr id="322" name="Google Shape;322;p10"/>
          <p:cNvSpPr/>
          <p:nvPr/>
        </p:nvSpPr>
        <p:spPr>
          <a:xfrm rot="10800000" flipH="1">
            <a:off x="8218352" y="4121459"/>
            <a:ext cx="685200" cy="5934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3" name="Google Shape;323;p10"/>
          <p:cNvSpPr/>
          <p:nvPr/>
        </p:nvSpPr>
        <p:spPr>
          <a:xfrm rot="5400000">
            <a:off x="388487" y="105212"/>
            <a:ext cx="944100" cy="10902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4" name="Google Shape;324;p10"/>
          <p:cNvSpPr/>
          <p:nvPr/>
        </p:nvSpPr>
        <p:spPr>
          <a:xfrm rot="10800000" flipH="1">
            <a:off x="-123825" y="847791"/>
            <a:ext cx="674400" cy="5844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0"/>
          <p:cNvSpPr/>
          <p:nvPr/>
        </p:nvSpPr>
        <p:spPr>
          <a:xfrm rot="10800000" flipH="1">
            <a:off x="503116" y="1161450"/>
            <a:ext cx="352800" cy="3054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0"/>
          <p:cNvSpPr/>
          <p:nvPr/>
        </p:nvSpPr>
        <p:spPr>
          <a:xfrm rot="10800000" flipH="1">
            <a:off x="1208424" y="-131812"/>
            <a:ext cx="674400" cy="5844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0"/>
          <p:cNvSpPr/>
          <p:nvPr/>
        </p:nvSpPr>
        <p:spPr>
          <a:xfrm rot="10800000" flipH="1">
            <a:off x="247753" y="49693"/>
            <a:ext cx="295200" cy="2556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rot="10800000" flipH="1">
            <a:off x="8763568" y="4485979"/>
            <a:ext cx="543000" cy="4704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0"/>
          <p:cNvSpPr/>
          <p:nvPr/>
        </p:nvSpPr>
        <p:spPr>
          <a:xfrm rot="10800000" flipH="1">
            <a:off x="8523810" y="4741100"/>
            <a:ext cx="284100" cy="2457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p:nvPr/>
        </p:nvSpPr>
        <p:spPr>
          <a:xfrm rot="10800000" flipH="1">
            <a:off x="8322785" y="3628023"/>
            <a:ext cx="543000" cy="470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0"/>
          <p:cNvSpPr/>
          <p:nvPr/>
        </p:nvSpPr>
        <p:spPr>
          <a:xfrm rot="10800000" flipH="1">
            <a:off x="8763569" y="4009882"/>
            <a:ext cx="237600" cy="2058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0"/>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63498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22985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3844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640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11045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16524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7390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3530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6061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86297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404212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0E29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732700" y="1735600"/>
            <a:ext cx="4944300" cy="645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1pPr>
            <a:lvl2pPr lvl="1">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2pPr>
            <a:lvl3pPr lvl="2">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3pPr>
            <a:lvl4pPr lvl="3">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4pPr>
            <a:lvl5pPr lvl="4">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5pPr>
            <a:lvl6pPr lvl="5">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6pPr>
            <a:lvl7pPr lvl="6">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7pPr>
            <a:lvl8pPr lvl="7">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8pPr>
            <a:lvl9pPr lvl="8">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9pPr>
          </a:lstStyle>
          <a:p>
            <a:endParaRPr/>
          </a:p>
        </p:txBody>
      </p:sp>
      <p:sp>
        <p:nvSpPr>
          <p:cNvPr id="7" name="Google Shape;7;p1"/>
          <p:cNvSpPr txBox="1">
            <a:spLocks noGrp="1"/>
          </p:cNvSpPr>
          <p:nvPr>
            <p:ph type="body" idx="1"/>
          </p:nvPr>
        </p:nvSpPr>
        <p:spPr>
          <a:xfrm>
            <a:off x="1732700" y="2255125"/>
            <a:ext cx="4944300" cy="1659900"/>
          </a:xfrm>
          <a:prstGeom prst="rect">
            <a:avLst/>
          </a:prstGeom>
          <a:noFill/>
          <a:ln>
            <a:noFill/>
          </a:ln>
        </p:spPr>
        <p:txBody>
          <a:bodyPr spcFirstLastPara="1" wrap="square" lIns="91425" tIns="91425" rIns="91425" bIns="91425" anchor="t" anchorCtr="0">
            <a:noAutofit/>
          </a:bodyPr>
          <a:lstStyle>
            <a:lvl1pPr marL="457200" lvl="0" indent="-317500">
              <a:spcBef>
                <a:spcPts val="600"/>
              </a:spcBef>
              <a:spcAft>
                <a:spcPts val="0"/>
              </a:spcAft>
              <a:buClr>
                <a:srgbClr val="19BBD5"/>
              </a:buClr>
              <a:buSzPts val="1400"/>
              <a:buFont typeface="Muli"/>
              <a:buChar char="◇"/>
              <a:defRPr>
                <a:solidFill>
                  <a:srgbClr val="C6DAEC"/>
                </a:solidFill>
                <a:latin typeface="Muli"/>
                <a:ea typeface="Muli"/>
                <a:cs typeface="Muli"/>
                <a:sym typeface="Muli"/>
              </a:defRPr>
            </a:lvl1pPr>
            <a:lvl2pPr marL="914400" lvl="1"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2pPr>
            <a:lvl3pPr marL="1371600" lvl="2"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3pPr>
            <a:lvl4pPr marL="1828800" lvl="3"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4pPr>
            <a:lvl5pPr marL="2286000" lvl="4"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5pPr>
            <a:lvl6pPr marL="2743200" lvl="5"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6pPr>
            <a:lvl7pPr marL="3200400" lvl="6"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7pPr>
            <a:lvl8pPr marL="3657600" lvl="7"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8pPr>
            <a:lvl9pPr marL="4114800" lvl="8"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13557" y="4785525"/>
            <a:ext cx="548700" cy="357900"/>
          </a:xfrm>
          <a:prstGeom prst="rect">
            <a:avLst/>
          </a:prstGeom>
          <a:noFill/>
          <a:ln>
            <a:noFill/>
          </a:ln>
        </p:spPr>
        <p:txBody>
          <a:bodyPr spcFirstLastPara="1" wrap="square" lIns="91425" tIns="91425" rIns="91425" bIns="91425" anchor="t" anchorCtr="0">
            <a:noAutofit/>
          </a:bodyPr>
          <a:lstStyle>
            <a:lvl1pPr lvl="0">
              <a:buNone/>
              <a:defRPr sz="1200">
                <a:solidFill>
                  <a:srgbClr val="19BBD5"/>
                </a:solidFill>
                <a:latin typeface="Nixie One"/>
                <a:ea typeface="Nixie One"/>
                <a:cs typeface="Nixie One"/>
                <a:sym typeface="Nixie One"/>
              </a:defRPr>
            </a:lvl1pPr>
            <a:lvl2pPr lvl="1">
              <a:buNone/>
              <a:defRPr sz="1200">
                <a:solidFill>
                  <a:srgbClr val="19BBD5"/>
                </a:solidFill>
                <a:latin typeface="Nixie One"/>
                <a:ea typeface="Nixie One"/>
                <a:cs typeface="Nixie One"/>
                <a:sym typeface="Nixie One"/>
              </a:defRPr>
            </a:lvl2pPr>
            <a:lvl3pPr lvl="2">
              <a:buNone/>
              <a:defRPr sz="1200">
                <a:solidFill>
                  <a:srgbClr val="19BBD5"/>
                </a:solidFill>
                <a:latin typeface="Nixie One"/>
                <a:ea typeface="Nixie One"/>
                <a:cs typeface="Nixie One"/>
                <a:sym typeface="Nixie One"/>
              </a:defRPr>
            </a:lvl3pPr>
            <a:lvl4pPr lvl="3">
              <a:buNone/>
              <a:defRPr sz="1200">
                <a:solidFill>
                  <a:srgbClr val="19BBD5"/>
                </a:solidFill>
                <a:latin typeface="Nixie One"/>
                <a:ea typeface="Nixie One"/>
                <a:cs typeface="Nixie One"/>
                <a:sym typeface="Nixie One"/>
              </a:defRPr>
            </a:lvl4pPr>
            <a:lvl5pPr lvl="4">
              <a:buNone/>
              <a:defRPr sz="1200">
                <a:solidFill>
                  <a:srgbClr val="19BBD5"/>
                </a:solidFill>
                <a:latin typeface="Nixie One"/>
                <a:ea typeface="Nixie One"/>
                <a:cs typeface="Nixie One"/>
                <a:sym typeface="Nixie One"/>
              </a:defRPr>
            </a:lvl5pPr>
            <a:lvl6pPr lvl="5">
              <a:buNone/>
              <a:defRPr sz="1200">
                <a:solidFill>
                  <a:srgbClr val="19BBD5"/>
                </a:solidFill>
                <a:latin typeface="Nixie One"/>
                <a:ea typeface="Nixie One"/>
                <a:cs typeface="Nixie One"/>
                <a:sym typeface="Nixie One"/>
              </a:defRPr>
            </a:lvl6pPr>
            <a:lvl7pPr lvl="6">
              <a:buNone/>
              <a:defRPr sz="1200">
                <a:solidFill>
                  <a:srgbClr val="19BBD5"/>
                </a:solidFill>
                <a:latin typeface="Nixie One"/>
                <a:ea typeface="Nixie One"/>
                <a:cs typeface="Nixie One"/>
                <a:sym typeface="Nixie One"/>
              </a:defRPr>
            </a:lvl7pPr>
            <a:lvl8pPr lvl="7">
              <a:buNone/>
              <a:defRPr sz="1200">
                <a:solidFill>
                  <a:srgbClr val="19BBD5"/>
                </a:solidFill>
                <a:latin typeface="Nixie One"/>
                <a:ea typeface="Nixie One"/>
                <a:cs typeface="Nixie One"/>
                <a:sym typeface="Nixie One"/>
              </a:defRPr>
            </a:lvl8pPr>
            <a:lvl9pPr lvl="8">
              <a:buNone/>
              <a:defRPr sz="1200">
                <a:solidFill>
                  <a:srgbClr val="19BBD5"/>
                </a:solidFill>
                <a:latin typeface="Nixie One"/>
                <a:ea typeface="Nixie One"/>
                <a:cs typeface="Nixie One"/>
                <a:sym typeface="Nixie One"/>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46CE7D5-CF57-46EF-B807-FDD0502418D4}" type="datetimeFigureOut">
              <a:rPr lang="en-US" smtClean="0"/>
              <a:t>11/25/2025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92331332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ired.it/internet/web/2015/10/05/internet-facebook-africa-satellite/" TargetMode="External"/><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hyperlink" Target="https://creativecommons.org/licenses/by-nc-nd/3.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pic>
        <p:nvPicPr>
          <p:cNvPr id="4" name="Picture 4">
            <a:extLst>
              <a:ext uri="{FF2B5EF4-FFF2-40B4-BE49-F238E27FC236}">
                <a16:creationId xmlns:a16="http://schemas.microsoft.com/office/drawing/2014/main" id="{7D4C3097-E69C-3430-2C7E-6A27A71E7520}"/>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7172" t="6484" r="23725" b="-1"/>
          <a:stretch/>
        </p:blipFill>
        <p:spPr>
          <a:xfrm>
            <a:off x="2642616" y="7"/>
            <a:ext cx="6501384" cy="5143493"/>
          </a:xfrm>
          <a:prstGeom prst="rect">
            <a:avLst/>
          </a:prstGeom>
        </p:spPr>
      </p:pic>
      <p:sp>
        <p:nvSpPr>
          <p:cNvPr id="58" name="Rectangle 5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1" cy="51435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dirty="0">
              <a:solidFill>
                <a:prstClr val="white"/>
              </a:solidFill>
              <a:latin typeface="Calibri" panose="020F0502020204030204"/>
            </a:endParaRPr>
          </a:p>
        </p:txBody>
      </p:sp>
      <p:sp>
        <p:nvSpPr>
          <p:cNvPr id="2" name="Title 1"/>
          <p:cNvSpPr>
            <a:spLocks noGrp="1"/>
          </p:cNvSpPr>
          <p:nvPr>
            <p:ph type="ctrTitle"/>
          </p:nvPr>
        </p:nvSpPr>
        <p:spPr>
          <a:xfrm>
            <a:off x="326482" y="1832433"/>
            <a:ext cx="3017520" cy="1577757"/>
          </a:xfrm>
        </p:spPr>
        <p:txBody>
          <a:bodyPr anchor="b">
            <a:normAutofit fontScale="90000"/>
          </a:bodyPr>
          <a:lstStyle/>
          <a:p>
            <a:r>
              <a:rPr lang="en-US" sz="3600" dirty="0">
                <a:latin typeface="Book Antiqua" panose="02040602050305030304" pitchFamily="18" charset="0"/>
              </a:rPr>
              <a:t>URBAN GROWTH PREDICTION</a:t>
            </a:r>
          </a:p>
        </p:txBody>
      </p:sp>
      <p:sp>
        <p:nvSpPr>
          <p:cNvPr id="3" name="Subtitle 2"/>
          <p:cNvSpPr>
            <a:spLocks noGrp="1"/>
          </p:cNvSpPr>
          <p:nvPr>
            <p:ph type="subTitle" idx="1"/>
          </p:nvPr>
        </p:nvSpPr>
        <p:spPr>
          <a:xfrm>
            <a:off x="370747" y="3660209"/>
            <a:ext cx="3017519" cy="1219555"/>
          </a:xfrm>
        </p:spPr>
        <p:txBody>
          <a:bodyPr>
            <a:normAutofit lnSpcReduction="10000"/>
          </a:bodyPr>
          <a:lstStyle/>
          <a:p>
            <a:r>
              <a:rPr lang="en-IN" sz="1600" dirty="0"/>
              <a:t>Mohit Gupta (MT2024049) </a:t>
            </a:r>
          </a:p>
          <a:p>
            <a:r>
              <a:rPr lang="en-IN" sz="1600" dirty="0" err="1"/>
              <a:t>Jaimin</a:t>
            </a:r>
            <a:r>
              <a:rPr lang="en-IN" sz="1600" dirty="0"/>
              <a:t> </a:t>
            </a:r>
            <a:r>
              <a:rPr lang="en-IN" sz="1600" dirty="0" err="1"/>
              <a:t>Jadvani</a:t>
            </a:r>
            <a:r>
              <a:rPr lang="en-IN" sz="1600" dirty="0"/>
              <a:t> (MT2024064) </a:t>
            </a:r>
          </a:p>
          <a:p>
            <a:r>
              <a:rPr lang="en-IN" sz="1600" dirty="0"/>
              <a:t>Rohan </a:t>
            </a:r>
            <a:r>
              <a:rPr lang="en-IN" sz="1600" dirty="0" err="1"/>
              <a:t>Sonawane</a:t>
            </a:r>
            <a:r>
              <a:rPr lang="en-IN" sz="1600" dirty="0"/>
              <a:t> (MT2024128) </a:t>
            </a:r>
          </a:p>
          <a:p>
            <a:r>
              <a:rPr lang="en-IN" sz="1600" dirty="0"/>
              <a:t>Raj Kanani (MT2024074)</a:t>
            </a:r>
            <a:endParaRPr lang="en-US" sz="1500" dirty="0"/>
          </a:p>
        </p:txBody>
      </p:sp>
      <p:sp>
        <p:nvSpPr>
          <p:cNvPr id="60" name="Rectangle 5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69941" y="260093"/>
            <a:ext cx="109728"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62" name="Rectangle 6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2" y="3410190"/>
            <a:ext cx="298323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a:solidFill>
                <a:prstClr val="white"/>
              </a:solidFill>
              <a:latin typeface="Calibri" panose="020F0502020204030204"/>
            </a:endParaRPr>
          </a:p>
        </p:txBody>
      </p:sp>
      <p:sp>
        <p:nvSpPr>
          <p:cNvPr id="5" name="TextBox 4">
            <a:extLst>
              <a:ext uri="{FF2B5EF4-FFF2-40B4-BE49-F238E27FC236}">
                <a16:creationId xmlns:a16="http://schemas.microsoft.com/office/drawing/2014/main" id="{E367A851-99F7-4E51-845A-9563C8CB7C3A}"/>
              </a:ext>
            </a:extLst>
          </p:cNvPr>
          <p:cNvSpPr txBox="1"/>
          <p:nvPr/>
        </p:nvSpPr>
        <p:spPr>
          <a:xfrm>
            <a:off x="7252136" y="4993459"/>
            <a:ext cx="1891865" cy="173124"/>
          </a:xfrm>
          <a:prstGeom prst="rect">
            <a:avLst/>
          </a:prstGeom>
          <a:solidFill>
            <a:srgbClr val="000000"/>
          </a:solidFill>
        </p:spPr>
        <p:txBody>
          <a:bodyPr wrap="none">
            <a:spAutoFit/>
          </a:bodyPr>
          <a:lstStyle/>
          <a:p>
            <a:pPr algn="r" defTabSz="685800">
              <a:spcAft>
                <a:spcPts val="450"/>
              </a:spcAft>
              <a:buClrTx/>
            </a:pPr>
            <a:r>
              <a:rPr lang="en-US" sz="525" kern="1200">
                <a:solidFill>
                  <a:srgbClr val="FFFFFF"/>
                </a:solidFill>
                <a:latin typeface="Calibri" panose="020F0502020204030204"/>
                <a:ea typeface="+mn-ea"/>
                <a:cs typeface="+mn-cs"/>
                <a:hlinkClick r:id="rId3">
                  <a:extLst>
                    <a:ext uri="{A12FA001-AC4F-418D-AE19-62706E023703}">
                      <ahyp:hlinkClr xmlns:ahyp="http://schemas.microsoft.com/office/drawing/2018/hyperlinkcolor" val="tx"/>
                    </a:ext>
                  </a:extLst>
                </a:hlinkClick>
              </a:rPr>
              <a:t>This Photo</a:t>
            </a:r>
            <a:r>
              <a:rPr lang="en-US" sz="525" kern="1200">
                <a:solidFill>
                  <a:srgbClr val="FFFFFF"/>
                </a:solidFill>
                <a:latin typeface="Calibri" panose="020F0502020204030204"/>
                <a:ea typeface="+mn-ea"/>
                <a:cs typeface="+mn-cs"/>
              </a:rPr>
              <a:t> by Unknown author is licensed under </a:t>
            </a:r>
            <a:r>
              <a:rPr lang="en-US" sz="525" kern="1200">
                <a:solidFill>
                  <a:srgbClr val="FFFFFF"/>
                </a:solidFill>
                <a:latin typeface="Calibri" panose="020F0502020204030204"/>
                <a:ea typeface="+mn-ea"/>
                <a:cs typeface="+mn-cs"/>
                <a:hlinkClick r:id="rId4">
                  <a:extLst>
                    <a:ext uri="{A12FA001-AC4F-418D-AE19-62706E023703}">
                      <ahyp:hlinkClr xmlns:ahyp="http://schemas.microsoft.com/office/drawing/2018/hyperlinkcolor" val="tx"/>
                    </a:ext>
                  </a:extLst>
                </a:hlinkClick>
              </a:rPr>
              <a:t>CC BY-NC-ND</a:t>
            </a:r>
            <a:r>
              <a:rPr lang="en-US" sz="525" kern="1200">
                <a:solidFill>
                  <a:srgbClr val="FFFFFF"/>
                </a:solidFill>
                <a:latin typeface="Calibri" panose="020F0502020204030204"/>
                <a:ea typeface="+mn-ea"/>
                <a:cs typeface="+mn-cs"/>
              </a:rPr>
              <a:t>.</a:t>
            </a:r>
          </a:p>
        </p:txBody>
      </p:sp>
    </p:spTree>
    <p:extLst>
      <p:ext uri="{BB962C8B-B14F-4D97-AF65-F5344CB8AC3E}">
        <p14:creationId xmlns:p14="http://schemas.microsoft.com/office/powerpoint/2010/main" val="10985722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5" name="Oval 4">
            <a:extLst>
              <a:ext uri="{FF2B5EF4-FFF2-40B4-BE49-F238E27FC236}">
                <a16:creationId xmlns:a16="http://schemas.microsoft.com/office/drawing/2014/main" id="{B6488A5C-F406-5B35-48DB-D580863CE661}"/>
              </a:ext>
            </a:extLst>
          </p:cNvPr>
          <p:cNvSpPr/>
          <p:nvPr/>
        </p:nvSpPr>
        <p:spPr>
          <a:xfrm>
            <a:off x="607274" y="3137696"/>
            <a:ext cx="3846064" cy="1308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2" name="Google Shape;342;p12"/>
          <p:cNvSpPr txBox="1">
            <a:spLocks noGrp="1"/>
          </p:cNvSpPr>
          <p:nvPr>
            <p:ph type="title"/>
          </p:nvPr>
        </p:nvSpPr>
        <p:spPr>
          <a:xfrm>
            <a:off x="1810814" y="813340"/>
            <a:ext cx="7090213" cy="6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Literature Review : Conclusions</a:t>
            </a:r>
            <a:endParaRPr dirty="0"/>
          </a:p>
        </p:txBody>
      </p:sp>
      <p:sp>
        <p:nvSpPr>
          <p:cNvPr id="343" name="Google Shape;343;p12"/>
          <p:cNvSpPr txBox="1"/>
          <p:nvPr/>
        </p:nvSpPr>
        <p:spPr>
          <a:xfrm>
            <a:off x="931314" y="3137697"/>
            <a:ext cx="3052211" cy="914913"/>
          </a:xfrm>
          <a:prstGeom prst="rect">
            <a:avLst/>
          </a:prstGeom>
          <a:noFill/>
          <a:ln>
            <a:noFill/>
          </a:ln>
        </p:spPr>
        <p:txBody>
          <a:bodyPr spcFirstLastPara="1" wrap="square" lIns="91425" tIns="91425" rIns="91425" bIns="91425" anchor="t" anchorCtr="0">
            <a:noAutofit/>
          </a:bodyPr>
          <a:lstStyle/>
          <a:p>
            <a:pPr marL="0" lvl="0" indent="0" algn="ctr" rtl="0">
              <a:spcBef>
                <a:spcPts val="600"/>
              </a:spcBef>
              <a:spcAft>
                <a:spcPts val="0"/>
              </a:spcAft>
              <a:buNone/>
            </a:pPr>
            <a:r>
              <a:rPr lang="en-IN" b="1" dirty="0">
                <a:solidFill>
                  <a:srgbClr val="00E1C6"/>
                </a:solidFill>
                <a:latin typeface="Muli"/>
                <a:ea typeface="Muli"/>
                <a:cs typeface="Muli"/>
                <a:sym typeface="Muli"/>
              </a:rPr>
              <a:t>CELLULAR AUTOMATA</a:t>
            </a:r>
            <a:endParaRPr dirty="0">
              <a:solidFill>
                <a:srgbClr val="00E1C6"/>
              </a:solidFill>
              <a:latin typeface="Muli"/>
              <a:ea typeface="Muli"/>
              <a:cs typeface="Muli"/>
              <a:sym typeface="Muli"/>
            </a:endParaRPr>
          </a:p>
          <a:p>
            <a:pPr marL="0" lvl="0" indent="0" algn="ctr" rtl="0">
              <a:spcBef>
                <a:spcPts val="600"/>
              </a:spcBef>
              <a:spcAft>
                <a:spcPts val="0"/>
              </a:spcAft>
              <a:buClr>
                <a:schemeClr val="dk1"/>
              </a:buClr>
              <a:buSzPts val="1100"/>
              <a:buFont typeface="Arial"/>
              <a:buNone/>
            </a:pPr>
            <a:r>
              <a:rPr lang="en-GB" dirty="0">
                <a:solidFill>
                  <a:srgbClr val="C6DAEC"/>
                </a:solidFill>
                <a:latin typeface="Muli"/>
                <a:ea typeface="Muli"/>
                <a:cs typeface="Muli"/>
                <a:sym typeface="Muli"/>
              </a:rPr>
              <a:t>The CA model is used to predict spatial patterns of land-use changes by setting required thresholds. </a:t>
            </a:r>
          </a:p>
        </p:txBody>
      </p:sp>
      <p:sp>
        <p:nvSpPr>
          <p:cNvPr id="344" name="Google Shape;344;p12"/>
          <p:cNvSpPr txBox="1"/>
          <p:nvPr/>
        </p:nvSpPr>
        <p:spPr>
          <a:xfrm>
            <a:off x="5048794" y="3137697"/>
            <a:ext cx="3330900" cy="1141948"/>
          </a:xfrm>
          <a:prstGeom prst="rect">
            <a:avLst/>
          </a:prstGeom>
          <a:noFill/>
          <a:ln>
            <a:noFill/>
          </a:ln>
        </p:spPr>
        <p:txBody>
          <a:bodyPr spcFirstLastPara="1" wrap="square" lIns="91425" tIns="91425" rIns="91425" bIns="91425" anchor="t" anchorCtr="0">
            <a:noAutofit/>
          </a:bodyPr>
          <a:lstStyle/>
          <a:p>
            <a:pPr marL="0" lvl="0" indent="0" algn="ctr" rtl="0">
              <a:spcBef>
                <a:spcPts val="600"/>
              </a:spcBef>
              <a:spcAft>
                <a:spcPts val="0"/>
              </a:spcAft>
              <a:buNone/>
            </a:pPr>
            <a:r>
              <a:rPr lang="en-IN" b="1" dirty="0">
                <a:solidFill>
                  <a:srgbClr val="00E1C6"/>
                </a:solidFill>
                <a:latin typeface="Muli"/>
                <a:ea typeface="Muli"/>
                <a:cs typeface="Muli"/>
                <a:sym typeface="Muli"/>
              </a:rPr>
              <a:t>ANN USING MOLUSCE</a:t>
            </a:r>
            <a:endParaRPr dirty="0">
              <a:solidFill>
                <a:srgbClr val="00E1C6"/>
              </a:solidFill>
              <a:latin typeface="Muli"/>
              <a:ea typeface="Muli"/>
              <a:cs typeface="Muli"/>
              <a:sym typeface="Muli"/>
            </a:endParaRPr>
          </a:p>
          <a:p>
            <a:pPr marL="0" lvl="0" indent="0" algn="ctr" rtl="0">
              <a:spcBef>
                <a:spcPts val="600"/>
              </a:spcBef>
              <a:spcAft>
                <a:spcPts val="0"/>
              </a:spcAft>
              <a:buNone/>
            </a:pPr>
            <a:r>
              <a:rPr lang="en-GB" sz="1100" dirty="0">
                <a:solidFill>
                  <a:srgbClr val="C6DAEC"/>
                </a:solidFill>
                <a:latin typeface="Muli"/>
                <a:ea typeface="Muli"/>
                <a:cs typeface="Muli"/>
                <a:sym typeface="Muli"/>
              </a:rPr>
              <a:t>The MOLUSCE plugin is an open-source plugin for QGIS 2.0 and above, and is used to simulate land use/cover changes by incorporating Artificial Neural Networks (ANN) algorithm.</a:t>
            </a:r>
            <a:endParaRPr sz="1100" dirty="0">
              <a:solidFill>
                <a:srgbClr val="C6DAEC"/>
              </a:solidFill>
              <a:latin typeface="Muli"/>
              <a:ea typeface="Muli"/>
              <a:cs typeface="Muli"/>
              <a:sym typeface="Muli"/>
            </a:endParaRPr>
          </a:p>
        </p:txBody>
      </p:sp>
      <p:sp>
        <p:nvSpPr>
          <p:cNvPr id="4" name="Google Shape;407;p19">
            <a:extLst>
              <a:ext uri="{FF2B5EF4-FFF2-40B4-BE49-F238E27FC236}">
                <a16:creationId xmlns:a16="http://schemas.microsoft.com/office/drawing/2014/main" id="{4C0D1348-336F-A164-CA4A-60BD9289F2FC}"/>
              </a:ext>
            </a:extLst>
          </p:cNvPr>
          <p:cNvSpPr txBox="1">
            <a:spLocks noGrp="1"/>
          </p:cNvSpPr>
          <p:nvPr>
            <p:ph type="body" idx="1"/>
          </p:nvPr>
        </p:nvSpPr>
        <p:spPr>
          <a:xfrm>
            <a:off x="1806724" y="1785260"/>
            <a:ext cx="7155791" cy="1069622"/>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GB" b="1" dirty="0"/>
              <a:t>From the papers that we have gone through, we can concluded that CA model and </a:t>
            </a:r>
            <a:r>
              <a:rPr lang="en-GB" b="1" dirty="0" err="1"/>
              <a:t>Molusce</a:t>
            </a:r>
            <a:r>
              <a:rPr lang="en-GB" b="1" dirty="0"/>
              <a:t> Plugin which implements ANN best suits our requirements.</a:t>
            </a:r>
          </a:p>
        </p:txBody>
      </p:sp>
      <p:sp>
        <p:nvSpPr>
          <p:cNvPr id="6" name="Oval 5">
            <a:extLst>
              <a:ext uri="{FF2B5EF4-FFF2-40B4-BE49-F238E27FC236}">
                <a16:creationId xmlns:a16="http://schemas.microsoft.com/office/drawing/2014/main" id="{716427DF-3EDD-8222-1F96-55102FBA77BE}"/>
              </a:ext>
            </a:extLst>
          </p:cNvPr>
          <p:cNvSpPr/>
          <p:nvPr/>
        </p:nvSpPr>
        <p:spPr>
          <a:xfrm>
            <a:off x="4843064" y="3137695"/>
            <a:ext cx="3846064" cy="1308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2"/>
          <p:cNvSpPr txBox="1">
            <a:spLocks noGrp="1"/>
          </p:cNvSpPr>
          <p:nvPr>
            <p:ph type="title"/>
          </p:nvPr>
        </p:nvSpPr>
        <p:spPr>
          <a:xfrm>
            <a:off x="1872302" y="857146"/>
            <a:ext cx="7090213" cy="6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Statement</a:t>
            </a:r>
            <a:endParaRPr dirty="0"/>
          </a:p>
        </p:txBody>
      </p:sp>
      <p:sp>
        <p:nvSpPr>
          <p:cNvPr id="4" name="Google Shape;407;p19">
            <a:extLst>
              <a:ext uri="{FF2B5EF4-FFF2-40B4-BE49-F238E27FC236}">
                <a16:creationId xmlns:a16="http://schemas.microsoft.com/office/drawing/2014/main" id="{4C0D1348-336F-A164-CA4A-60BD9289F2FC}"/>
              </a:ext>
            </a:extLst>
          </p:cNvPr>
          <p:cNvSpPr txBox="1">
            <a:spLocks noGrp="1"/>
          </p:cNvSpPr>
          <p:nvPr>
            <p:ph type="body" idx="1"/>
          </p:nvPr>
        </p:nvSpPr>
        <p:spPr>
          <a:xfrm>
            <a:off x="1681648" y="1820161"/>
            <a:ext cx="6666615" cy="2996143"/>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GB" sz="1800" b="1" dirty="0"/>
              <a:t>Bangalore is one of the most dense cities in India and the IT capital of our country. This leads to the inflow of skilled and unskilled labour from around the country, leading to a high demand in housing projects and a rapid urban development in the outskirts of the city. Recent rainfall has shown that some areas in the city are prone to floods because of poor urban planning and development on land previously occupied by lakes and water bodies.</a:t>
            </a:r>
          </a:p>
        </p:txBody>
      </p:sp>
    </p:spTree>
    <p:extLst>
      <p:ext uri="{BB962C8B-B14F-4D97-AF65-F5344CB8AC3E}">
        <p14:creationId xmlns:p14="http://schemas.microsoft.com/office/powerpoint/2010/main" val="4278794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2"/>
          <p:cNvSpPr txBox="1">
            <a:spLocks noGrp="1"/>
          </p:cNvSpPr>
          <p:nvPr>
            <p:ph type="title"/>
          </p:nvPr>
        </p:nvSpPr>
        <p:spPr>
          <a:xfrm>
            <a:off x="1872302" y="857146"/>
            <a:ext cx="7090213" cy="6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a:t>
            </a:r>
            <a:endParaRPr dirty="0"/>
          </a:p>
        </p:txBody>
      </p:sp>
      <p:sp>
        <p:nvSpPr>
          <p:cNvPr id="4" name="Google Shape;407;p19">
            <a:extLst>
              <a:ext uri="{FF2B5EF4-FFF2-40B4-BE49-F238E27FC236}">
                <a16:creationId xmlns:a16="http://schemas.microsoft.com/office/drawing/2014/main" id="{4C0D1348-336F-A164-CA4A-60BD9289F2FC}"/>
              </a:ext>
            </a:extLst>
          </p:cNvPr>
          <p:cNvSpPr txBox="1">
            <a:spLocks noGrp="1"/>
          </p:cNvSpPr>
          <p:nvPr>
            <p:ph type="body" idx="1"/>
          </p:nvPr>
        </p:nvSpPr>
        <p:spPr>
          <a:xfrm>
            <a:off x="2148752" y="2301792"/>
            <a:ext cx="5780702" cy="1069622"/>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GB" sz="1800" b="1" dirty="0"/>
              <a:t>This project aims to predict the urban growth of Bangalore City using the </a:t>
            </a:r>
            <a:r>
              <a:rPr lang="en-GB" sz="1800" b="1" dirty="0" err="1"/>
              <a:t>Molusce</a:t>
            </a:r>
            <a:r>
              <a:rPr lang="en-GB" sz="1800" b="1" dirty="0"/>
              <a:t> Model of QGIS and CA model to help authorities plan better. </a:t>
            </a:r>
          </a:p>
        </p:txBody>
      </p:sp>
    </p:spTree>
    <p:extLst>
      <p:ext uri="{BB962C8B-B14F-4D97-AF65-F5344CB8AC3E}">
        <p14:creationId xmlns:p14="http://schemas.microsoft.com/office/powerpoint/2010/main" val="1352831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2"/>
          <p:cNvSpPr txBox="1">
            <a:spLocks noGrp="1"/>
          </p:cNvSpPr>
          <p:nvPr>
            <p:ph type="title"/>
          </p:nvPr>
        </p:nvSpPr>
        <p:spPr>
          <a:xfrm>
            <a:off x="1823441" y="1066551"/>
            <a:ext cx="2825341" cy="6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The Dataset</a:t>
            </a:r>
            <a:endParaRPr dirty="0"/>
          </a:p>
        </p:txBody>
      </p:sp>
      <p:sp>
        <p:nvSpPr>
          <p:cNvPr id="4" name="Google Shape;407;p19">
            <a:extLst>
              <a:ext uri="{FF2B5EF4-FFF2-40B4-BE49-F238E27FC236}">
                <a16:creationId xmlns:a16="http://schemas.microsoft.com/office/drawing/2014/main" id="{4C0D1348-336F-A164-CA4A-60BD9289F2FC}"/>
              </a:ext>
            </a:extLst>
          </p:cNvPr>
          <p:cNvSpPr txBox="1">
            <a:spLocks noGrp="1"/>
          </p:cNvSpPr>
          <p:nvPr>
            <p:ph type="body" idx="1"/>
          </p:nvPr>
        </p:nvSpPr>
        <p:spPr>
          <a:xfrm>
            <a:off x="2658303" y="2120308"/>
            <a:ext cx="4342792" cy="2095704"/>
          </a:xfrm>
          <a:prstGeom prst="rect">
            <a:avLst/>
          </a:prstGeom>
        </p:spPr>
        <p:txBody>
          <a:bodyPr spcFirstLastPara="1" wrap="square" lIns="91425" tIns="91425" rIns="91425" bIns="91425" anchor="t" anchorCtr="0">
            <a:noAutofit/>
          </a:bodyPr>
          <a:lstStyle/>
          <a:p>
            <a:pPr marL="285750" indent="-285750"/>
            <a:r>
              <a:rPr lang="en-GB" sz="1800" b="1" dirty="0"/>
              <a:t>LULC DATA from Landsat (2017 to 2022)</a:t>
            </a:r>
          </a:p>
          <a:p>
            <a:pPr marL="285750" indent="-285750"/>
            <a:r>
              <a:rPr lang="en-GB" sz="1800" b="1" dirty="0"/>
              <a:t>Population Density (2017 to 2021)</a:t>
            </a:r>
          </a:p>
          <a:p>
            <a:pPr marL="285750" indent="-285750"/>
            <a:r>
              <a:rPr lang="en-GB" sz="1800" b="1" dirty="0"/>
              <a:t>Digital Elevation Model (DEM)</a:t>
            </a:r>
          </a:p>
          <a:p>
            <a:pPr marL="285750" indent="-285750"/>
            <a:r>
              <a:rPr lang="en-GB" sz="1800" b="1" dirty="0"/>
              <a:t>Slope</a:t>
            </a:r>
          </a:p>
          <a:p>
            <a:pPr marL="285750" indent="-285750"/>
            <a:r>
              <a:rPr lang="en-GB" sz="1800" b="1" dirty="0"/>
              <a:t>Proximity with roads (Road Network)</a:t>
            </a:r>
          </a:p>
        </p:txBody>
      </p:sp>
    </p:spTree>
    <p:extLst>
      <p:ext uri="{BB962C8B-B14F-4D97-AF65-F5344CB8AC3E}">
        <p14:creationId xmlns:p14="http://schemas.microsoft.com/office/powerpoint/2010/main" val="311807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30" name="Google Shape;430;p22"/>
          <p:cNvSpPr txBox="1">
            <a:spLocks noGrp="1"/>
          </p:cNvSpPr>
          <p:nvPr>
            <p:ph type="title" idx="4294967295"/>
          </p:nvPr>
        </p:nvSpPr>
        <p:spPr>
          <a:xfrm>
            <a:off x="1544236" y="783391"/>
            <a:ext cx="4944300" cy="6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Models</a:t>
            </a:r>
            <a:endParaRPr dirty="0"/>
          </a:p>
        </p:txBody>
      </p:sp>
      <p:sp>
        <p:nvSpPr>
          <p:cNvPr id="15" name="TextBox 14">
            <a:extLst>
              <a:ext uri="{FF2B5EF4-FFF2-40B4-BE49-F238E27FC236}">
                <a16:creationId xmlns:a16="http://schemas.microsoft.com/office/drawing/2014/main" id="{64E4A878-772C-494D-2AF6-9C65B5992752}"/>
              </a:ext>
            </a:extLst>
          </p:cNvPr>
          <p:cNvSpPr txBox="1"/>
          <p:nvPr/>
        </p:nvSpPr>
        <p:spPr>
          <a:xfrm>
            <a:off x="2854883" y="2046939"/>
            <a:ext cx="4718582" cy="123110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19BBD5"/>
              </a:buClr>
              <a:buSzPts val="1400"/>
              <a:buFont typeface="Muli"/>
              <a:buChar char="◇"/>
              <a:tabLst/>
              <a:defRPr/>
            </a:pPr>
            <a:r>
              <a:rPr lang="en-GB" sz="2400" b="1" dirty="0">
                <a:solidFill>
                  <a:srgbClr val="C6DAEC"/>
                </a:solidFill>
                <a:latin typeface="Muli"/>
                <a:sym typeface="Muli"/>
              </a:rPr>
              <a:t>Cellular Automata</a:t>
            </a:r>
          </a:p>
          <a:p>
            <a:pPr marL="285750" marR="0" lvl="0" indent="-285750" algn="l" defTabSz="914400" rtl="0" eaLnBrk="1" fontAlgn="auto" latinLnBrk="0" hangingPunct="1">
              <a:lnSpc>
                <a:spcPct val="100000"/>
              </a:lnSpc>
              <a:spcBef>
                <a:spcPts val="600"/>
              </a:spcBef>
              <a:spcAft>
                <a:spcPts val="0"/>
              </a:spcAft>
              <a:buClr>
                <a:srgbClr val="19BBD5"/>
              </a:buClr>
              <a:buSzPts val="1400"/>
              <a:buFont typeface="Muli"/>
              <a:buChar char="◇"/>
              <a:tabLst/>
              <a:defRPr/>
            </a:pPr>
            <a:endParaRPr kumimoji="0" lang="en-GB" b="1" i="0" u="none" strike="noStrike" kern="0" cap="none" spc="0" normalizeH="0" baseline="0" noProof="0" dirty="0">
              <a:ln>
                <a:noFill/>
              </a:ln>
              <a:solidFill>
                <a:srgbClr val="C6DAEC"/>
              </a:solidFill>
              <a:effectLst/>
              <a:uLnTx/>
              <a:uFillTx/>
              <a:latin typeface="Muli"/>
              <a:sym typeface="Muli"/>
            </a:endParaRPr>
          </a:p>
          <a:p>
            <a:pPr marL="285750" marR="0" lvl="0" indent="-285750" algn="l" defTabSz="914400" rtl="0" eaLnBrk="1" fontAlgn="auto" latinLnBrk="0" hangingPunct="1">
              <a:lnSpc>
                <a:spcPct val="100000"/>
              </a:lnSpc>
              <a:spcBef>
                <a:spcPts val="600"/>
              </a:spcBef>
              <a:spcAft>
                <a:spcPts val="0"/>
              </a:spcAft>
              <a:buClr>
                <a:srgbClr val="19BBD5"/>
              </a:buClr>
              <a:buSzPts val="1400"/>
              <a:buFont typeface="Muli"/>
              <a:buChar char="◇"/>
              <a:tabLst/>
              <a:defRPr/>
            </a:pPr>
            <a:r>
              <a:rPr kumimoji="0" lang="en-GB" sz="2400" b="1" i="0" u="none" strike="noStrike" kern="0" cap="none" spc="0" normalizeH="0" baseline="0" noProof="0" dirty="0">
                <a:ln>
                  <a:noFill/>
                </a:ln>
                <a:solidFill>
                  <a:srgbClr val="C6DAEC"/>
                </a:solidFill>
                <a:effectLst/>
                <a:uLnTx/>
                <a:uFillTx/>
                <a:latin typeface="Muli"/>
                <a:sym typeface="Muli"/>
              </a:rPr>
              <a:t>ANN using </a:t>
            </a:r>
            <a:r>
              <a:rPr kumimoji="0" lang="en-GB" sz="2400" b="1" i="0" u="none" strike="noStrike" kern="0" cap="none" spc="0" normalizeH="0" baseline="0" noProof="0" dirty="0" err="1">
                <a:ln>
                  <a:noFill/>
                </a:ln>
                <a:solidFill>
                  <a:srgbClr val="C6DAEC"/>
                </a:solidFill>
                <a:effectLst/>
                <a:uLnTx/>
                <a:uFillTx/>
                <a:latin typeface="Muli"/>
                <a:sym typeface="Muli"/>
              </a:rPr>
              <a:t>Molusce</a:t>
            </a:r>
            <a:r>
              <a:rPr kumimoji="0" lang="en-GB" sz="2400" b="1" i="0" u="none" strike="noStrike" kern="0" cap="none" spc="0" normalizeH="0" baseline="0" noProof="0" dirty="0">
                <a:ln>
                  <a:noFill/>
                </a:ln>
                <a:solidFill>
                  <a:srgbClr val="C6DAEC"/>
                </a:solidFill>
                <a:effectLst/>
                <a:uLnTx/>
                <a:uFillTx/>
                <a:latin typeface="Muli"/>
                <a:sym typeface="Muli"/>
              </a:rPr>
              <a:t> Plugin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3"/>
          <p:cNvSpPr txBox="1">
            <a:spLocks noGrp="1"/>
          </p:cNvSpPr>
          <p:nvPr>
            <p:ph type="title"/>
          </p:nvPr>
        </p:nvSpPr>
        <p:spPr>
          <a:xfrm>
            <a:off x="1732699" y="674617"/>
            <a:ext cx="5128792" cy="64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CA </a:t>
            </a:r>
            <a:r>
              <a:rPr lang="en-GB" sz="3600" dirty="0"/>
              <a:t>Prediction Accuracy with 1-year gap</a:t>
            </a:r>
            <a:endParaRPr sz="3600" dirty="0"/>
          </a:p>
        </p:txBody>
      </p:sp>
      <p:graphicFrame>
        <p:nvGraphicFramePr>
          <p:cNvPr id="439" name="Google Shape;439;p23"/>
          <p:cNvGraphicFramePr/>
          <p:nvPr/>
        </p:nvGraphicFramePr>
        <p:xfrm>
          <a:off x="1732699" y="2166449"/>
          <a:ext cx="5305400" cy="2539760"/>
        </p:xfrm>
        <a:graphic>
          <a:graphicData uri="http://schemas.openxmlformats.org/drawingml/2006/table">
            <a:tbl>
              <a:tblPr>
                <a:tableStyleId>{ED083AE6-46FA-4A59-8FB0-9F97EB10719F}</a:tableStyleId>
              </a:tblPr>
              <a:tblGrid>
                <a:gridCol w="1326350">
                  <a:extLst>
                    <a:ext uri="{9D8B030D-6E8A-4147-A177-3AD203B41FA5}">
                      <a16:colId xmlns:a16="http://schemas.microsoft.com/office/drawing/2014/main" val="20000"/>
                    </a:ext>
                  </a:extLst>
                </a:gridCol>
                <a:gridCol w="1326350">
                  <a:extLst>
                    <a:ext uri="{9D8B030D-6E8A-4147-A177-3AD203B41FA5}">
                      <a16:colId xmlns:a16="http://schemas.microsoft.com/office/drawing/2014/main" val="20001"/>
                    </a:ext>
                  </a:extLst>
                </a:gridCol>
                <a:gridCol w="1326350">
                  <a:extLst>
                    <a:ext uri="{9D8B030D-6E8A-4147-A177-3AD203B41FA5}">
                      <a16:colId xmlns:a16="http://schemas.microsoft.com/office/drawing/2014/main" val="20002"/>
                    </a:ext>
                  </a:extLst>
                </a:gridCol>
                <a:gridCol w="1326350">
                  <a:extLst>
                    <a:ext uri="{9D8B030D-6E8A-4147-A177-3AD203B41FA5}">
                      <a16:colId xmlns:a16="http://schemas.microsoft.com/office/drawing/2014/main" val="20003"/>
                    </a:ext>
                  </a:extLst>
                </a:gridCol>
              </a:tblGrid>
              <a:tr h="454600">
                <a:tc>
                  <a:txBody>
                    <a:bodyPr/>
                    <a:lstStyle/>
                    <a:p>
                      <a:pPr algn="ctr" rtl="0" fontAlgn="t">
                        <a:spcBef>
                          <a:spcPts val="0"/>
                        </a:spcBef>
                        <a:spcAft>
                          <a:spcPts val="0"/>
                        </a:spcAft>
                      </a:pPr>
                      <a:r>
                        <a:rPr lang="en-IN" sz="1300" b="1" u="none" strike="noStrike" dirty="0">
                          <a:solidFill>
                            <a:schemeClr val="tx1"/>
                          </a:solidFill>
                          <a:effectLst/>
                        </a:rPr>
                        <a:t>LULC</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GB" sz="1300" b="1" u="none" strike="noStrike" dirty="0">
                          <a:solidFill>
                            <a:schemeClr val="tx1"/>
                          </a:solidFill>
                          <a:effectLst/>
                        </a:rPr>
                        <a:t>LULC Year Used For Prediction</a:t>
                      </a:r>
                      <a:endParaRPr lang="en-GB"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300" b="1" u="none" strike="noStrike" dirty="0">
                          <a:solidFill>
                            <a:schemeClr val="tx1"/>
                          </a:solidFill>
                          <a:effectLst/>
                        </a:rPr>
                        <a:t>Accuracy</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300" b="1" u="none" strike="noStrike" dirty="0">
                          <a:solidFill>
                            <a:schemeClr val="tx1"/>
                          </a:solidFill>
                          <a:effectLst/>
                        </a:rPr>
                        <a:t>KAPPA</a:t>
                      </a:r>
                      <a:endParaRPr lang="en-IN" dirty="0">
                        <a:solidFill>
                          <a:schemeClr val="tx1"/>
                        </a:solidFill>
                        <a:effectLst/>
                        <a:latin typeface="Muli"/>
                      </a:endParaRPr>
                    </a:p>
                  </a:txBody>
                  <a:tcPr marL="63500" marR="63500" marT="63500" marB="63500"/>
                </a:tc>
                <a:extLst>
                  <a:ext uri="{0D108BD9-81ED-4DB2-BD59-A6C34878D82A}">
                    <a16:rowId xmlns:a16="http://schemas.microsoft.com/office/drawing/2014/main" val="10000"/>
                  </a:ext>
                </a:extLst>
              </a:tr>
              <a:tr h="454600">
                <a:tc>
                  <a:txBody>
                    <a:bodyPr/>
                    <a:lstStyle/>
                    <a:p>
                      <a:pPr algn="ctr" rtl="0" fontAlgn="t">
                        <a:spcBef>
                          <a:spcPts val="0"/>
                        </a:spcBef>
                        <a:spcAft>
                          <a:spcPts val="0"/>
                        </a:spcAft>
                      </a:pPr>
                      <a:r>
                        <a:rPr lang="en-IN" sz="1200" b="0" u="none" strike="noStrike" dirty="0">
                          <a:solidFill>
                            <a:schemeClr val="tx1"/>
                          </a:solidFill>
                          <a:effectLst/>
                        </a:rPr>
                        <a:t>2019</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dirty="0">
                          <a:solidFill>
                            <a:schemeClr val="tx1"/>
                          </a:solidFill>
                          <a:effectLst/>
                        </a:rPr>
                        <a:t>2018</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dirty="0">
                          <a:solidFill>
                            <a:schemeClr val="tx1"/>
                          </a:solidFill>
                          <a:effectLst/>
                        </a:rPr>
                        <a:t>87.2428</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dirty="0">
                          <a:solidFill>
                            <a:schemeClr val="tx1"/>
                          </a:solidFill>
                          <a:effectLst/>
                        </a:rPr>
                        <a:t>0.8121</a:t>
                      </a:r>
                      <a:endParaRPr lang="en-IN" dirty="0">
                        <a:solidFill>
                          <a:schemeClr val="tx1"/>
                        </a:solidFill>
                        <a:effectLst/>
                        <a:latin typeface="Muli"/>
                      </a:endParaRPr>
                    </a:p>
                  </a:txBody>
                  <a:tcPr marL="63500" marR="63500" marT="63500" marB="63500"/>
                </a:tc>
                <a:extLst>
                  <a:ext uri="{0D108BD9-81ED-4DB2-BD59-A6C34878D82A}">
                    <a16:rowId xmlns:a16="http://schemas.microsoft.com/office/drawing/2014/main" val="10001"/>
                  </a:ext>
                </a:extLst>
              </a:tr>
              <a:tr h="454600">
                <a:tc>
                  <a:txBody>
                    <a:bodyPr/>
                    <a:lstStyle/>
                    <a:p>
                      <a:pPr algn="ctr" rtl="0" fontAlgn="t">
                        <a:spcBef>
                          <a:spcPts val="0"/>
                        </a:spcBef>
                        <a:spcAft>
                          <a:spcPts val="0"/>
                        </a:spcAft>
                      </a:pPr>
                      <a:r>
                        <a:rPr lang="en-IN" sz="1200" b="0" u="none" strike="noStrike" dirty="0">
                          <a:solidFill>
                            <a:schemeClr val="tx1"/>
                          </a:solidFill>
                          <a:effectLst/>
                        </a:rPr>
                        <a:t>2020</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a:solidFill>
                            <a:schemeClr val="tx1"/>
                          </a:solidFill>
                          <a:effectLst/>
                        </a:rPr>
                        <a:t>2019</a:t>
                      </a:r>
                      <a:endParaRPr lang="en-IN">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a:solidFill>
                            <a:schemeClr val="tx1"/>
                          </a:solidFill>
                          <a:effectLst/>
                        </a:rPr>
                        <a:t>87.2346</a:t>
                      </a:r>
                      <a:endParaRPr lang="en-IN">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dirty="0">
                          <a:solidFill>
                            <a:schemeClr val="tx1"/>
                          </a:solidFill>
                          <a:effectLst/>
                        </a:rPr>
                        <a:t>0.8102</a:t>
                      </a:r>
                      <a:endParaRPr lang="en-IN" dirty="0">
                        <a:solidFill>
                          <a:schemeClr val="tx1"/>
                        </a:solidFill>
                        <a:effectLst/>
                        <a:latin typeface="Muli"/>
                      </a:endParaRPr>
                    </a:p>
                  </a:txBody>
                  <a:tcPr marL="63500" marR="63500" marT="63500" marB="63500"/>
                </a:tc>
                <a:extLst>
                  <a:ext uri="{0D108BD9-81ED-4DB2-BD59-A6C34878D82A}">
                    <a16:rowId xmlns:a16="http://schemas.microsoft.com/office/drawing/2014/main" val="10002"/>
                  </a:ext>
                </a:extLst>
              </a:tr>
              <a:tr h="454600">
                <a:tc>
                  <a:txBody>
                    <a:bodyPr/>
                    <a:lstStyle/>
                    <a:p>
                      <a:pPr algn="ctr" rtl="0" fontAlgn="t">
                        <a:spcBef>
                          <a:spcPts val="0"/>
                        </a:spcBef>
                        <a:spcAft>
                          <a:spcPts val="0"/>
                        </a:spcAft>
                      </a:pPr>
                      <a:r>
                        <a:rPr lang="en-IN" sz="1200" b="0" u="none" strike="noStrike" dirty="0">
                          <a:solidFill>
                            <a:schemeClr val="tx1"/>
                          </a:solidFill>
                          <a:effectLst/>
                        </a:rPr>
                        <a:t>2021</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a:solidFill>
                            <a:schemeClr val="tx1"/>
                          </a:solidFill>
                          <a:effectLst/>
                        </a:rPr>
                        <a:t>2020</a:t>
                      </a:r>
                      <a:endParaRPr lang="en-IN">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a:solidFill>
                            <a:schemeClr val="tx1"/>
                          </a:solidFill>
                          <a:effectLst/>
                        </a:rPr>
                        <a:t>89.0800</a:t>
                      </a:r>
                      <a:endParaRPr lang="en-IN">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200" b="0" u="none" strike="noStrike" dirty="0">
                          <a:solidFill>
                            <a:schemeClr val="tx1"/>
                          </a:solidFill>
                          <a:effectLst/>
                        </a:rPr>
                        <a:t>0.8339</a:t>
                      </a:r>
                      <a:endParaRPr lang="en-IN" dirty="0">
                        <a:solidFill>
                          <a:schemeClr val="tx1"/>
                        </a:solidFill>
                        <a:effectLst/>
                        <a:latin typeface="Muli"/>
                      </a:endParaRPr>
                    </a:p>
                  </a:txBody>
                  <a:tcPr marL="63500" marR="63500" marT="63500" marB="63500"/>
                </a:tc>
                <a:extLst>
                  <a:ext uri="{0D108BD9-81ED-4DB2-BD59-A6C34878D82A}">
                    <a16:rowId xmlns:a16="http://schemas.microsoft.com/office/drawing/2014/main" val="10003"/>
                  </a:ext>
                </a:extLst>
              </a:tr>
              <a:tr h="454600">
                <a:tc>
                  <a:txBody>
                    <a:bodyPr/>
                    <a:lstStyle/>
                    <a:p>
                      <a:pPr algn="ctr" rtl="0" fontAlgn="t">
                        <a:spcBef>
                          <a:spcPts val="0"/>
                        </a:spcBef>
                        <a:spcAft>
                          <a:spcPts val="0"/>
                        </a:spcAft>
                      </a:pPr>
                      <a:r>
                        <a:rPr lang="en-IN" sz="1200" b="0" i="0" u="none" strike="noStrike" dirty="0">
                          <a:solidFill>
                            <a:schemeClr val="tx1"/>
                          </a:solidFill>
                          <a:effectLst/>
                          <a:latin typeface="Arial" panose="020B0604020202020204" pitchFamily="34" charset="0"/>
                        </a:rPr>
                        <a:t>2022</a:t>
                      </a:r>
                      <a:endParaRPr lang="en-IN" dirty="0">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2021</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85.5751</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dirty="0">
                          <a:solidFill>
                            <a:schemeClr val="tx1"/>
                          </a:solidFill>
                          <a:effectLst/>
                          <a:latin typeface="Arial" panose="020B0604020202020204" pitchFamily="34" charset="0"/>
                        </a:rPr>
                        <a:t>0.7875</a:t>
                      </a:r>
                      <a:endParaRPr lang="en-IN" dirty="0">
                        <a:solidFill>
                          <a:schemeClr val="tx1"/>
                        </a:solidFill>
                        <a:effectLst/>
                      </a:endParaRPr>
                    </a:p>
                  </a:txBody>
                  <a:tcPr marL="63500" marR="63500" marT="63500" marB="63500"/>
                </a:tc>
                <a:extLst>
                  <a:ext uri="{0D108BD9-81ED-4DB2-BD59-A6C34878D82A}">
                    <a16:rowId xmlns:a16="http://schemas.microsoft.com/office/drawing/2014/main" val="747023007"/>
                  </a:ext>
                </a:extLst>
              </a:tr>
            </a:tbl>
          </a:graphicData>
        </a:graphic>
      </p:graphicFrame>
    </p:spTree>
    <p:extLst>
      <p:ext uri="{BB962C8B-B14F-4D97-AF65-F5344CB8AC3E}">
        <p14:creationId xmlns:p14="http://schemas.microsoft.com/office/powerpoint/2010/main" val="462883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3"/>
          <p:cNvSpPr txBox="1">
            <a:spLocks noGrp="1"/>
          </p:cNvSpPr>
          <p:nvPr>
            <p:ph type="title"/>
          </p:nvPr>
        </p:nvSpPr>
        <p:spPr>
          <a:xfrm>
            <a:off x="1732699" y="674617"/>
            <a:ext cx="5128792" cy="64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CA </a:t>
            </a:r>
            <a:r>
              <a:rPr lang="en-GB" sz="3600" dirty="0"/>
              <a:t>Prediction Accuracy with 2-year gap</a:t>
            </a:r>
            <a:endParaRPr sz="3600" dirty="0"/>
          </a:p>
        </p:txBody>
      </p:sp>
      <p:graphicFrame>
        <p:nvGraphicFramePr>
          <p:cNvPr id="439" name="Google Shape;439;p23"/>
          <p:cNvGraphicFramePr/>
          <p:nvPr>
            <p:extLst>
              <p:ext uri="{D42A27DB-BD31-4B8C-83A1-F6EECF244321}">
                <p14:modId xmlns:p14="http://schemas.microsoft.com/office/powerpoint/2010/main" val="1622515214"/>
              </p:ext>
            </p:extLst>
          </p:nvPr>
        </p:nvGraphicFramePr>
        <p:xfrm>
          <a:off x="1732699" y="2166449"/>
          <a:ext cx="5305400" cy="2539760"/>
        </p:xfrm>
        <a:graphic>
          <a:graphicData uri="http://schemas.openxmlformats.org/drawingml/2006/table">
            <a:tbl>
              <a:tblPr>
                <a:tableStyleId>{ED083AE6-46FA-4A59-8FB0-9F97EB10719F}</a:tableStyleId>
              </a:tblPr>
              <a:tblGrid>
                <a:gridCol w="1326350">
                  <a:extLst>
                    <a:ext uri="{9D8B030D-6E8A-4147-A177-3AD203B41FA5}">
                      <a16:colId xmlns:a16="http://schemas.microsoft.com/office/drawing/2014/main" val="20000"/>
                    </a:ext>
                  </a:extLst>
                </a:gridCol>
                <a:gridCol w="1326350">
                  <a:extLst>
                    <a:ext uri="{9D8B030D-6E8A-4147-A177-3AD203B41FA5}">
                      <a16:colId xmlns:a16="http://schemas.microsoft.com/office/drawing/2014/main" val="20001"/>
                    </a:ext>
                  </a:extLst>
                </a:gridCol>
                <a:gridCol w="1326350">
                  <a:extLst>
                    <a:ext uri="{9D8B030D-6E8A-4147-A177-3AD203B41FA5}">
                      <a16:colId xmlns:a16="http://schemas.microsoft.com/office/drawing/2014/main" val="20002"/>
                    </a:ext>
                  </a:extLst>
                </a:gridCol>
                <a:gridCol w="1326350">
                  <a:extLst>
                    <a:ext uri="{9D8B030D-6E8A-4147-A177-3AD203B41FA5}">
                      <a16:colId xmlns:a16="http://schemas.microsoft.com/office/drawing/2014/main" val="20003"/>
                    </a:ext>
                  </a:extLst>
                </a:gridCol>
              </a:tblGrid>
              <a:tr h="454600">
                <a:tc>
                  <a:txBody>
                    <a:bodyPr/>
                    <a:lstStyle/>
                    <a:p>
                      <a:pPr algn="ctr" rtl="0" fontAlgn="t">
                        <a:spcBef>
                          <a:spcPts val="0"/>
                        </a:spcBef>
                        <a:spcAft>
                          <a:spcPts val="0"/>
                        </a:spcAft>
                      </a:pPr>
                      <a:r>
                        <a:rPr lang="en-IN" sz="1300" b="1" u="none" strike="noStrike" dirty="0">
                          <a:solidFill>
                            <a:schemeClr val="tx1"/>
                          </a:solidFill>
                          <a:effectLst/>
                        </a:rPr>
                        <a:t>LULC</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GB" sz="1300" b="1" u="none" strike="noStrike" dirty="0">
                          <a:solidFill>
                            <a:schemeClr val="tx1"/>
                          </a:solidFill>
                          <a:effectLst/>
                        </a:rPr>
                        <a:t>LULC Year Used For Prediction</a:t>
                      </a:r>
                      <a:endParaRPr lang="en-GB"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300" b="1" u="none" strike="noStrike" dirty="0">
                          <a:solidFill>
                            <a:schemeClr val="tx1"/>
                          </a:solidFill>
                          <a:effectLst/>
                        </a:rPr>
                        <a:t>Accuracy</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300" b="1" u="none" strike="noStrike" dirty="0">
                          <a:solidFill>
                            <a:schemeClr val="tx1"/>
                          </a:solidFill>
                          <a:effectLst/>
                        </a:rPr>
                        <a:t>KAPPA</a:t>
                      </a:r>
                      <a:endParaRPr lang="en-IN" dirty="0">
                        <a:solidFill>
                          <a:schemeClr val="tx1"/>
                        </a:solidFill>
                        <a:effectLst/>
                        <a:latin typeface="Muli"/>
                      </a:endParaRPr>
                    </a:p>
                  </a:txBody>
                  <a:tcPr marL="63500" marR="63500" marT="63500" marB="63500"/>
                </a:tc>
                <a:extLst>
                  <a:ext uri="{0D108BD9-81ED-4DB2-BD59-A6C34878D82A}">
                    <a16:rowId xmlns:a16="http://schemas.microsoft.com/office/drawing/2014/main" val="10000"/>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2019</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2017</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76.3676</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0.6673</a:t>
                      </a:r>
                      <a:endParaRPr lang="en-IN">
                        <a:solidFill>
                          <a:schemeClr val="tx1"/>
                        </a:solidFill>
                        <a:effectLst/>
                      </a:endParaRPr>
                    </a:p>
                  </a:txBody>
                  <a:tcPr marL="63500" marR="63500" marT="63500" marB="63500"/>
                </a:tc>
                <a:extLst>
                  <a:ext uri="{0D108BD9-81ED-4DB2-BD59-A6C34878D82A}">
                    <a16:rowId xmlns:a16="http://schemas.microsoft.com/office/drawing/2014/main" val="10001"/>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2020</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2018</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85.0453</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0.7727</a:t>
                      </a:r>
                      <a:endParaRPr lang="en-IN">
                        <a:solidFill>
                          <a:schemeClr val="tx1"/>
                        </a:solidFill>
                        <a:effectLst/>
                      </a:endParaRPr>
                    </a:p>
                  </a:txBody>
                  <a:tcPr marL="63500" marR="63500" marT="63500" marB="63500"/>
                </a:tc>
                <a:extLst>
                  <a:ext uri="{0D108BD9-81ED-4DB2-BD59-A6C34878D82A}">
                    <a16:rowId xmlns:a16="http://schemas.microsoft.com/office/drawing/2014/main" val="10002"/>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2021</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2019</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85.7605</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0.7845</a:t>
                      </a:r>
                      <a:endParaRPr lang="en-IN">
                        <a:solidFill>
                          <a:schemeClr val="tx1"/>
                        </a:solidFill>
                        <a:effectLst/>
                      </a:endParaRPr>
                    </a:p>
                  </a:txBody>
                  <a:tcPr marL="63500" marR="63500" marT="63500" marB="63500"/>
                </a:tc>
                <a:extLst>
                  <a:ext uri="{0D108BD9-81ED-4DB2-BD59-A6C34878D82A}">
                    <a16:rowId xmlns:a16="http://schemas.microsoft.com/office/drawing/2014/main" val="10003"/>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2022</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2020</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88.4919</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dirty="0">
                          <a:solidFill>
                            <a:schemeClr val="tx1"/>
                          </a:solidFill>
                          <a:effectLst/>
                          <a:latin typeface="Arial" panose="020B0604020202020204" pitchFamily="34" charset="0"/>
                        </a:rPr>
                        <a:t>0.8313</a:t>
                      </a:r>
                      <a:endParaRPr lang="en-IN" dirty="0">
                        <a:solidFill>
                          <a:schemeClr val="tx1"/>
                        </a:solidFill>
                        <a:effectLst/>
                      </a:endParaRPr>
                    </a:p>
                  </a:txBody>
                  <a:tcPr marL="63500" marR="63500" marT="63500" marB="63500"/>
                </a:tc>
                <a:extLst>
                  <a:ext uri="{0D108BD9-81ED-4DB2-BD59-A6C34878D82A}">
                    <a16:rowId xmlns:a16="http://schemas.microsoft.com/office/drawing/2014/main" val="747023007"/>
                  </a:ext>
                </a:extLst>
              </a:tr>
            </a:tbl>
          </a:graphicData>
        </a:graphic>
      </p:graphicFrame>
    </p:spTree>
    <p:extLst>
      <p:ext uri="{BB962C8B-B14F-4D97-AF65-F5344CB8AC3E}">
        <p14:creationId xmlns:p14="http://schemas.microsoft.com/office/powerpoint/2010/main" val="3300500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3"/>
          <p:cNvSpPr txBox="1">
            <a:spLocks noGrp="1"/>
          </p:cNvSpPr>
          <p:nvPr>
            <p:ph type="title"/>
          </p:nvPr>
        </p:nvSpPr>
        <p:spPr>
          <a:xfrm>
            <a:off x="1732699" y="674617"/>
            <a:ext cx="5128792" cy="64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600" dirty="0" err="1"/>
              <a:t>Molusce</a:t>
            </a:r>
            <a:r>
              <a:rPr lang="en-IN" sz="3600" dirty="0"/>
              <a:t> </a:t>
            </a:r>
            <a:r>
              <a:rPr lang="en-GB" sz="3600" dirty="0"/>
              <a:t>Accuracy with </a:t>
            </a:r>
            <a:br>
              <a:rPr lang="en-GB" sz="3600" dirty="0"/>
            </a:br>
            <a:r>
              <a:rPr lang="en-GB" sz="3600" dirty="0"/>
              <a:t>2-year gap</a:t>
            </a:r>
            <a:endParaRPr sz="3600" dirty="0"/>
          </a:p>
        </p:txBody>
      </p:sp>
      <p:graphicFrame>
        <p:nvGraphicFramePr>
          <p:cNvPr id="439" name="Google Shape;439;p23"/>
          <p:cNvGraphicFramePr/>
          <p:nvPr>
            <p:extLst>
              <p:ext uri="{D42A27DB-BD31-4B8C-83A1-F6EECF244321}">
                <p14:modId xmlns:p14="http://schemas.microsoft.com/office/powerpoint/2010/main" val="3323476906"/>
              </p:ext>
            </p:extLst>
          </p:nvPr>
        </p:nvGraphicFramePr>
        <p:xfrm>
          <a:off x="1732699" y="2166449"/>
          <a:ext cx="5305400" cy="2539760"/>
        </p:xfrm>
        <a:graphic>
          <a:graphicData uri="http://schemas.openxmlformats.org/drawingml/2006/table">
            <a:tbl>
              <a:tblPr>
                <a:tableStyleId>{ED083AE6-46FA-4A59-8FB0-9F97EB10719F}</a:tableStyleId>
              </a:tblPr>
              <a:tblGrid>
                <a:gridCol w="1326350">
                  <a:extLst>
                    <a:ext uri="{9D8B030D-6E8A-4147-A177-3AD203B41FA5}">
                      <a16:colId xmlns:a16="http://schemas.microsoft.com/office/drawing/2014/main" val="20000"/>
                    </a:ext>
                  </a:extLst>
                </a:gridCol>
                <a:gridCol w="1326350">
                  <a:extLst>
                    <a:ext uri="{9D8B030D-6E8A-4147-A177-3AD203B41FA5}">
                      <a16:colId xmlns:a16="http://schemas.microsoft.com/office/drawing/2014/main" val="20001"/>
                    </a:ext>
                  </a:extLst>
                </a:gridCol>
                <a:gridCol w="1326350">
                  <a:extLst>
                    <a:ext uri="{9D8B030D-6E8A-4147-A177-3AD203B41FA5}">
                      <a16:colId xmlns:a16="http://schemas.microsoft.com/office/drawing/2014/main" val="20002"/>
                    </a:ext>
                  </a:extLst>
                </a:gridCol>
                <a:gridCol w="1326350">
                  <a:extLst>
                    <a:ext uri="{9D8B030D-6E8A-4147-A177-3AD203B41FA5}">
                      <a16:colId xmlns:a16="http://schemas.microsoft.com/office/drawing/2014/main" val="20003"/>
                    </a:ext>
                  </a:extLst>
                </a:gridCol>
              </a:tblGrid>
              <a:tr h="454600">
                <a:tc>
                  <a:txBody>
                    <a:bodyPr/>
                    <a:lstStyle/>
                    <a:p>
                      <a:pPr algn="ctr" rtl="0" fontAlgn="t">
                        <a:spcBef>
                          <a:spcPts val="0"/>
                        </a:spcBef>
                        <a:spcAft>
                          <a:spcPts val="0"/>
                        </a:spcAft>
                      </a:pPr>
                      <a:r>
                        <a:rPr lang="en-IN" sz="1300" b="1" u="none" strike="noStrike" dirty="0">
                          <a:solidFill>
                            <a:schemeClr val="tx1"/>
                          </a:solidFill>
                          <a:effectLst/>
                        </a:rPr>
                        <a:t>LULC</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GB" sz="1300" b="1" u="none" strike="noStrike" dirty="0">
                          <a:solidFill>
                            <a:schemeClr val="tx1"/>
                          </a:solidFill>
                          <a:effectLst/>
                        </a:rPr>
                        <a:t>LULC Year Used For Prediction</a:t>
                      </a:r>
                      <a:endParaRPr lang="en-GB"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300" b="1" u="none" strike="noStrike" dirty="0">
                          <a:solidFill>
                            <a:schemeClr val="tx1"/>
                          </a:solidFill>
                          <a:effectLst/>
                        </a:rPr>
                        <a:t>Accuracy</a:t>
                      </a:r>
                      <a:endParaRPr lang="en-IN" dirty="0">
                        <a:solidFill>
                          <a:schemeClr val="tx1"/>
                        </a:solidFill>
                        <a:effectLst/>
                        <a:latin typeface="Muli"/>
                      </a:endParaRPr>
                    </a:p>
                  </a:txBody>
                  <a:tcPr marL="63500" marR="63500" marT="63500" marB="63500"/>
                </a:tc>
                <a:tc>
                  <a:txBody>
                    <a:bodyPr/>
                    <a:lstStyle/>
                    <a:p>
                      <a:pPr algn="ctr" rtl="0" fontAlgn="t">
                        <a:spcBef>
                          <a:spcPts val="0"/>
                        </a:spcBef>
                        <a:spcAft>
                          <a:spcPts val="0"/>
                        </a:spcAft>
                      </a:pPr>
                      <a:r>
                        <a:rPr lang="en-IN" sz="1300" b="1" u="none" strike="noStrike" dirty="0">
                          <a:solidFill>
                            <a:schemeClr val="tx1"/>
                          </a:solidFill>
                          <a:effectLst/>
                        </a:rPr>
                        <a:t>KAPPA</a:t>
                      </a:r>
                      <a:endParaRPr lang="en-IN" dirty="0">
                        <a:solidFill>
                          <a:schemeClr val="tx1"/>
                        </a:solidFill>
                        <a:effectLst/>
                        <a:latin typeface="Muli"/>
                      </a:endParaRPr>
                    </a:p>
                  </a:txBody>
                  <a:tcPr marL="63500" marR="63500" marT="63500" marB="63500"/>
                </a:tc>
                <a:extLst>
                  <a:ext uri="{0D108BD9-81ED-4DB2-BD59-A6C34878D82A}">
                    <a16:rowId xmlns:a16="http://schemas.microsoft.com/office/drawing/2014/main" val="10000"/>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2019</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2017,2015</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71.0681</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0.6047</a:t>
                      </a:r>
                      <a:endParaRPr lang="en-IN">
                        <a:solidFill>
                          <a:schemeClr val="tx1"/>
                        </a:solidFill>
                        <a:effectLst/>
                      </a:endParaRPr>
                    </a:p>
                  </a:txBody>
                  <a:tcPr marL="63500" marR="63500" marT="63500" marB="63500"/>
                </a:tc>
                <a:extLst>
                  <a:ext uri="{0D108BD9-81ED-4DB2-BD59-A6C34878D82A}">
                    <a16:rowId xmlns:a16="http://schemas.microsoft.com/office/drawing/2014/main" val="10001"/>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2020</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2018,2016</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74.4888</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0.6243</a:t>
                      </a:r>
                      <a:endParaRPr lang="en-IN">
                        <a:solidFill>
                          <a:schemeClr val="tx1"/>
                        </a:solidFill>
                        <a:effectLst/>
                      </a:endParaRPr>
                    </a:p>
                  </a:txBody>
                  <a:tcPr marL="63500" marR="63500" marT="63500" marB="63500"/>
                </a:tc>
                <a:extLst>
                  <a:ext uri="{0D108BD9-81ED-4DB2-BD59-A6C34878D82A}">
                    <a16:rowId xmlns:a16="http://schemas.microsoft.com/office/drawing/2014/main" val="10002"/>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2021</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2019,2017</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85.2186</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0.7737</a:t>
                      </a:r>
                      <a:endParaRPr lang="en-IN">
                        <a:solidFill>
                          <a:schemeClr val="tx1"/>
                        </a:solidFill>
                        <a:effectLst/>
                      </a:endParaRPr>
                    </a:p>
                  </a:txBody>
                  <a:tcPr marL="63500" marR="63500" marT="63500" marB="63500"/>
                </a:tc>
                <a:extLst>
                  <a:ext uri="{0D108BD9-81ED-4DB2-BD59-A6C34878D82A}">
                    <a16:rowId xmlns:a16="http://schemas.microsoft.com/office/drawing/2014/main" val="10003"/>
                  </a:ext>
                </a:extLst>
              </a:tr>
              <a:tr h="454600">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2022</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2020,2018</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a:solidFill>
                            <a:schemeClr val="tx1"/>
                          </a:solidFill>
                          <a:effectLst/>
                          <a:latin typeface="Arial" panose="020B0604020202020204" pitchFamily="34" charset="0"/>
                        </a:rPr>
                        <a:t>82.5795</a:t>
                      </a:r>
                      <a:endParaRPr lang="en-IN">
                        <a:solidFill>
                          <a:schemeClr val="tx1"/>
                        </a:solidFill>
                        <a:effectLst/>
                      </a:endParaRPr>
                    </a:p>
                  </a:txBody>
                  <a:tcPr marL="63500" marR="63500" marT="63500" marB="63500"/>
                </a:tc>
                <a:tc>
                  <a:txBody>
                    <a:bodyPr/>
                    <a:lstStyle/>
                    <a:p>
                      <a:pPr algn="ctr" rtl="0" fontAlgn="t">
                        <a:spcBef>
                          <a:spcPts val="0"/>
                        </a:spcBef>
                        <a:spcAft>
                          <a:spcPts val="0"/>
                        </a:spcAft>
                      </a:pPr>
                      <a:r>
                        <a:rPr lang="en-IN" sz="1200" b="0" i="0" u="none" strike="noStrike" dirty="0">
                          <a:solidFill>
                            <a:schemeClr val="tx1"/>
                          </a:solidFill>
                          <a:effectLst/>
                          <a:latin typeface="Arial" panose="020B0604020202020204" pitchFamily="34" charset="0"/>
                        </a:rPr>
                        <a:t>0.7455</a:t>
                      </a:r>
                      <a:endParaRPr lang="en-IN" dirty="0">
                        <a:solidFill>
                          <a:schemeClr val="tx1"/>
                        </a:solidFill>
                        <a:effectLst/>
                      </a:endParaRPr>
                    </a:p>
                  </a:txBody>
                  <a:tcPr marL="63500" marR="63500" marT="63500" marB="63500"/>
                </a:tc>
                <a:extLst>
                  <a:ext uri="{0D108BD9-81ED-4DB2-BD59-A6C34878D82A}">
                    <a16:rowId xmlns:a16="http://schemas.microsoft.com/office/drawing/2014/main" val="747023007"/>
                  </a:ext>
                </a:extLst>
              </a:tr>
            </a:tbl>
          </a:graphicData>
        </a:graphic>
      </p:graphicFrame>
    </p:spTree>
    <p:extLst>
      <p:ext uri="{BB962C8B-B14F-4D97-AF65-F5344CB8AC3E}">
        <p14:creationId xmlns:p14="http://schemas.microsoft.com/office/powerpoint/2010/main" val="1881609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3" name="Picture 2">
            <a:extLst>
              <a:ext uri="{FF2B5EF4-FFF2-40B4-BE49-F238E27FC236}">
                <a16:creationId xmlns:a16="http://schemas.microsoft.com/office/drawing/2014/main" id="{C7C190ED-06A0-88AF-1DD3-6A93B86B140F}"/>
              </a:ext>
            </a:extLst>
          </p:cNvPr>
          <p:cNvPicPr>
            <a:picLocks noChangeAspect="1"/>
          </p:cNvPicPr>
          <p:nvPr/>
        </p:nvPicPr>
        <p:blipFill>
          <a:blip r:embed="rId3"/>
          <a:stretch>
            <a:fillRect/>
          </a:stretch>
        </p:blipFill>
        <p:spPr>
          <a:xfrm>
            <a:off x="4742893" y="1860270"/>
            <a:ext cx="2796414" cy="2548291"/>
          </a:xfrm>
          <a:prstGeom prst="rect">
            <a:avLst/>
          </a:prstGeom>
        </p:spPr>
      </p:pic>
      <p:sp>
        <p:nvSpPr>
          <p:cNvPr id="4" name="Google Shape;430;p22">
            <a:extLst>
              <a:ext uri="{FF2B5EF4-FFF2-40B4-BE49-F238E27FC236}">
                <a16:creationId xmlns:a16="http://schemas.microsoft.com/office/drawing/2014/main" id="{678D3A35-B740-0941-96D3-7BF34A9B3111}"/>
              </a:ext>
            </a:extLst>
          </p:cNvPr>
          <p:cNvSpPr txBox="1">
            <a:spLocks/>
          </p:cNvSpPr>
          <p:nvPr/>
        </p:nvSpPr>
        <p:spPr>
          <a:xfrm>
            <a:off x="1544235" y="783391"/>
            <a:ext cx="3767661"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r>
              <a:rPr lang="en-IN" dirty="0"/>
              <a:t>Predictions (CA)</a:t>
            </a:r>
          </a:p>
        </p:txBody>
      </p:sp>
      <p:sp>
        <p:nvSpPr>
          <p:cNvPr id="6" name="TextBox 5">
            <a:extLst>
              <a:ext uri="{FF2B5EF4-FFF2-40B4-BE49-F238E27FC236}">
                <a16:creationId xmlns:a16="http://schemas.microsoft.com/office/drawing/2014/main" id="{94609378-4519-6943-AD9A-68827646794E}"/>
              </a:ext>
            </a:extLst>
          </p:cNvPr>
          <p:cNvSpPr txBox="1"/>
          <p:nvPr/>
        </p:nvSpPr>
        <p:spPr>
          <a:xfrm>
            <a:off x="4742893" y="4390915"/>
            <a:ext cx="2796414" cy="307777"/>
          </a:xfrm>
          <a:prstGeom prst="rect">
            <a:avLst/>
          </a:prstGeom>
          <a:noFill/>
        </p:spPr>
        <p:txBody>
          <a:bodyPr wrap="square">
            <a:spAutoFit/>
          </a:bodyPr>
          <a:lstStyle/>
          <a:p>
            <a:pPr algn="ctr"/>
            <a:r>
              <a:rPr lang="en-IN" dirty="0">
                <a:solidFill>
                  <a:schemeClr val="tx1"/>
                </a:solidFill>
                <a:latin typeface="Muli"/>
              </a:rPr>
              <a:t>Prediction</a:t>
            </a:r>
          </a:p>
        </p:txBody>
      </p:sp>
      <p:pic>
        <p:nvPicPr>
          <p:cNvPr id="8" name="Picture 7">
            <a:extLst>
              <a:ext uri="{FF2B5EF4-FFF2-40B4-BE49-F238E27FC236}">
                <a16:creationId xmlns:a16="http://schemas.microsoft.com/office/drawing/2014/main" id="{19AD8FBE-F567-6AB3-408F-AE398CC7C4E0}"/>
              </a:ext>
            </a:extLst>
          </p:cNvPr>
          <p:cNvPicPr>
            <a:picLocks noChangeAspect="1"/>
          </p:cNvPicPr>
          <p:nvPr/>
        </p:nvPicPr>
        <p:blipFill>
          <a:blip r:embed="rId4"/>
          <a:stretch>
            <a:fillRect/>
          </a:stretch>
        </p:blipFill>
        <p:spPr>
          <a:xfrm>
            <a:off x="1368109" y="1856132"/>
            <a:ext cx="2796415" cy="2557204"/>
          </a:xfrm>
          <a:prstGeom prst="rect">
            <a:avLst/>
          </a:prstGeom>
        </p:spPr>
      </p:pic>
      <p:sp>
        <p:nvSpPr>
          <p:cNvPr id="9" name="TextBox 8">
            <a:extLst>
              <a:ext uri="{FF2B5EF4-FFF2-40B4-BE49-F238E27FC236}">
                <a16:creationId xmlns:a16="http://schemas.microsoft.com/office/drawing/2014/main" id="{16B64837-9B22-8CC0-8B82-6B16D165E122}"/>
              </a:ext>
            </a:extLst>
          </p:cNvPr>
          <p:cNvSpPr txBox="1"/>
          <p:nvPr/>
        </p:nvSpPr>
        <p:spPr>
          <a:xfrm>
            <a:off x="1368110" y="4408561"/>
            <a:ext cx="2796414" cy="307777"/>
          </a:xfrm>
          <a:prstGeom prst="rect">
            <a:avLst/>
          </a:prstGeom>
          <a:noFill/>
        </p:spPr>
        <p:txBody>
          <a:bodyPr wrap="square">
            <a:spAutoFit/>
          </a:bodyPr>
          <a:lstStyle/>
          <a:p>
            <a:pPr algn="ctr"/>
            <a:r>
              <a:rPr lang="en-IN" dirty="0">
                <a:solidFill>
                  <a:schemeClr val="tx1"/>
                </a:solidFill>
                <a:latin typeface="Muli"/>
              </a:rPr>
              <a:t>2021 LULC</a:t>
            </a:r>
          </a:p>
        </p:txBody>
      </p:sp>
      <p:sp>
        <p:nvSpPr>
          <p:cNvPr id="10" name="TextBox 9">
            <a:extLst>
              <a:ext uri="{FF2B5EF4-FFF2-40B4-BE49-F238E27FC236}">
                <a16:creationId xmlns:a16="http://schemas.microsoft.com/office/drawing/2014/main" id="{610E80F9-4B9B-FC50-C749-2BD9993AFC62}"/>
              </a:ext>
            </a:extLst>
          </p:cNvPr>
          <p:cNvSpPr txBox="1"/>
          <p:nvPr/>
        </p:nvSpPr>
        <p:spPr>
          <a:xfrm>
            <a:off x="1544235" y="1245353"/>
            <a:ext cx="2796414" cy="307777"/>
          </a:xfrm>
          <a:prstGeom prst="rect">
            <a:avLst/>
          </a:prstGeom>
          <a:noFill/>
        </p:spPr>
        <p:txBody>
          <a:bodyPr wrap="square">
            <a:spAutoFit/>
          </a:bodyPr>
          <a:lstStyle/>
          <a:p>
            <a:pPr algn="ctr"/>
            <a:r>
              <a:rPr lang="en-IN" dirty="0">
                <a:solidFill>
                  <a:schemeClr val="tx1"/>
                </a:solidFill>
                <a:latin typeface="Muli"/>
              </a:rPr>
              <a:t>1 Year Gap</a:t>
            </a:r>
          </a:p>
        </p:txBody>
      </p:sp>
    </p:spTree>
    <p:extLst>
      <p:ext uri="{BB962C8B-B14F-4D97-AF65-F5344CB8AC3E}">
        <p14:creationId xmlns:p14="http://schemas.microsoft.com/office/powerpoint/2010/main" val="4272049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3" name="Picture 2">
            <a:extLst>
              <a:ext uri="{FF2B5EF4-FFF2-40B4-BE49-F238E27FC236}">
                <a16:creationId xmlns:a16="http://schemas.microsoft.com/office/drawing/2014/main" id="{C7C190ED-06A0-88AF-1DD3-6A93B86B140F}"/>
              </a:ext>
            </a:extLst>
          </p:cNvPr>
          <p:cNvPicPr>
            <a:picLocks noChangeAspect="1"/>
          </p:cNvPicPr>
          <p:nvPr/>
        </p:nvPicPr>
        <p:blipFill>
          <a:blip r:embed="rId3"/>
          <a:srcRect/>
          <a:stretch/>
        </p:blipFill>
        <p:spPr>
          <a:xfrm>
            <a:off x="4753400" y="1860270"/>
            <a:ext cx="2775399" cy="2548291"/>
          </a:xfrm>
          <a:prstGeom prst="rect">
            <a:avLst/>
          </a:prstGeom>
        </p:spPr>
      </p:pic>
      <p:sp>
        <p:nvSpPr>
          <p:cNvPr id="4" name="Google Shape;430;p22">
            <a:extLst>
              <a:ext uri="{FF2B5EF4-FFF2-40B4-BE49-F238E27FC236}">
                <a16:creationId xmlns:a16="http://schemas.microsoft.com/office/drawing/2014/main" id="{678D3A35-B740-0941-96D3-7BF34A9B3111}"/>
              </a:ext>
            </a:extLst>
          </p:cNvPr>
          <p:cNvSpPr txBox="1">
            <a:spLocks/>
          </p:cNvSpPr>
          <p:nvPr/>
        </p:nvSpPr>
        <p:spPr>
          <a:xfrm>
            <a:off x="1544235" y="783391"/>
            <a:ext cx="3579197"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r>
              <a:rPr lang="en-IN" dirty="0"/>
              <a:t>Predictions (CA)</a:t>
            </a:r>
          </a:p>
        </p:txBody>
      </p:sp>
      <p:sp>
        <p:nvSpPr>
          <p:cNvPr id="6" name="TextBox 5">
            <a:extLst>
              <a:ext uri="{FF2B5EF4-FFF2-40B4-BE49-F238E27FC236}">
                <a16:creationId xmlns:a16="http://schemas.microsoft.com/office/drawing/2014/main" id="{94609378-4519-6943-AD9A-68827646794E}"/>
              </a:ext>
            </a:extLst>
          </p:cNvPr>
          <p:cNvSpPr txBox="1"/>
          <p:nvPr/>
        </p:nvSpPr>
        <p:spPr>
          <a:xfrm>
            <a:off x="4742893" y="4390915"/>
            <a:ext cx="2796414" cy="307777"/>
          </a:xfrm>
          <a:prstGeom prst="rect">
            <a:avLst/>
          </a:prstGeom>
          <a:noFill/>
        </p:spPr>
        <p:txBody>
          <a:bodyPr wrap="square">
            <a:spAutoFit/>
          </a:bodyPr>
          <a:lstStyle/>
          <a:p>
            <a:pPr algn="ctr"/>
            <a:r>
              <a:rPr lang="en-IN" dirty="0">
                <a:solidFill>
                  <a:schemeClr val="tx1"/>
                </a:solidFill>
                <a:latin typeface="Muli"/>
              </a:rPr>
              <a:t>Prediction</a:t>
            </a:r>
          </a:p>
        </p:txBody>
      </p:sp>
      <p:pic>
        <p:nvPicPr>
          <p:cNvPr id="8" name="Picture 7">
            <a:extLst>
              <a:ext uri="{FF2B5EF4-FFF2-40B4-BE49-F238E27FC236}">
                <a16:creationId xmlns:a16="http://schemas.microsoft.com/office/drawing/2014/main" id="{19AD8FBE-F567-6AB3-408F-AE398CC7C4E0}"/>
              </a:ext>
            </a:extLst>
          </p:cNvPr>
          <p:cNvPicPr>
            <a:picLocks noChangeAspect="1"/>
          </p:cNvPicPr>
          <p:nvPr/>
        </p:nvPicPr>
        <p:blipFill>
          <a:blip r:embed="rId4"/>
          <a:srcRect/>
          <a:stretch/>
        </p:blipFill>
        <p:spPr>
          <a:xfrm>
            <a:off x="1368109" y="1865952"/>
            <a:ext cx="2796415" cy="2545840"/>
          </a:xfrm>
          <a:prstGeom prst="rect">
            <a:avLst/>
          </a:prstGeom>
        </p:spPr>
      </p:pic>
      <p:sp>
        <p:nvSpPr>
          <p:cNvPr id="9" name="TextBox 8">
            <a:extLst>
              <a:ext uri="{FF2B5EF4-FFF2-40B4-BE49-F238E27FC236}">
                <a16:creationId xmlns:a16="http://schemas.microsoft.com/office/drawing/2014/main" id="{16B64837-9B22-8CC0-8B82-6B16D165E122}"/>
              </a:ext>
            </a:extLst>
          </p:cNvPr>
          <p:cNvSpPr txBox="1"/>
          <p:nvPr/>
        </p:nvSpPr>
        <p:spPr>
          <a:xfrm>
            <a:off x="1368110" y="4408561"/>
            <a:ext cx="2796414" cy="307777"/>
          </a:xfrm>
          <a:prstGeom prst="rect">
            <a:avLst/>
          </a:prstGeom>
          <a:noFill/>
        </p:spPr>
        <p:txBody>
          <a:bodyPr wrap="square">
            <a:spAutoFit/>
          </a:bodyPr>
          <a:lstStyle/>
          <a:p>
            <a:pPr algn="ctr"/>
            <a:r>
              <a:rPr lang="en-IN" dirty="0">
                <a:solidFill>
                  <a:schemeClr val="tx1"/>
                </a:solidFill>
                <a:latin typeface="Muli"/>
              </a:rPr>
              <a:t>2022 LULC</a:t>
            </a:r>
          </a:p>
        </p:txBody>
      </p:sp>
      <p:sp>
        <p:nvSpPr>
          <p:cNvPr id="2" name="TextBox 1">
            <a:extLst>
              <a:ext uri="{FF2B5EF4-FFF2-40B4-BE49-F238E27FC236}">
                <a16:creationId xmlns:a16="http://schemas.microsoft.com/office/drawing/2014/main" id="{E4416A2F-58FF-28F6-D62A-09D1B2B965B4}"/>
              </a:ext>
            </a:extLst>
          </p:cNvPr>
          <p:cNvSpPr txBox="1"/>
          <p:nvPr/>
        </p:nvSpPr>
        <p:spPr>
          <a:xfrm>
            <a:off x="1544235" y="1245353"/>
            <a:ext cx="2796414" cy="307777"/>
          </a:xfrm>
          <a:prstGeom prst="rect">
            <a:avLst/>
          </a:prstGeom>
          <a:noFill/>
        </p:spPr>
        <p:txBody>
          <a:bodyPr wrap="square">
            <a:spAutoFit/>
          </a:bodyPr>
          <a:lstStyle/>
          <a:p>
            <a:pPr algn="ctr"/>
            <a:r>
              <a:rPr lang="en-IN" dirty="0">
                <a:solidFill>
                  <a:schemeClr val="tx1"/>
                </a:solidFill>
                <a:latin typeface="Muli"/>
              </a:rPr>
              <a:t>1 Year Gap</a:t>
            </a:r>
          </a:p>
        </p:txBody>
      </p:sp>
    </p:spTree>
    <p:extLst>
      <p:ext uri="{BB962C8B-B14F-4D97-AF65-F5344CB8AC3E}">
        <p14:creationId xmlns:p14="http://schemas.microsoft.com/office/powerpoint/2010/main" val="61365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3" name="Picture 2">
            <a:extLst>
              <a:ext uri="{FF2B5EF4-FFF2-40B4-BE49-F238E27FC236}">
                <a16:creationId xmlns:a16="http://schemas.microsoft.com/office/drawing/2014/main" id="{C7C190ED-06A0-88AF-1DD3-6A93B86B140F}"/>
              </a:ext>
            </a:extLst>
          </p:cNvPr>
          <p:cNvPicPr>
            <a:picLocks noChangeAspect="1"/>
          </p:cNvPicPr>
          <p:nvPr/>
        </p:nvPicPr>
        <p:blipFill>
          <a:blip r:embed="rId3"/>
          <a:srcRect/>
          <a:stretch/>
        </p:blipFill>
        <p:spPr>
          <a:xfrm>
            <a:off x="4742893" y="1860457"/>
            <a:ext cx="2796414" cy="2547917"/>
          </a:xfrm>
          <a:prstGeom prst="rect">
            <a:avLst/>
          </a:prstGeom>
        </p:spPr>
      </p:pic>
      <p:sp>
        <p:nvSpPr>
          <p:cNvPr id="4" name="Google Shape;430;p22">
            <a:extLst>
              <a:ext uri="{FF2B5EF4-FFF2-40B4-BE49-F238E27FC236}">
                <a16:creationId xmlns:a16="http://schemas.microsoft.com/office/drawing/2014/main" id="{678D3A35-B740-0941-96D3-7BF34A9B3111}"/>
              </a:ext>
            </a:extLst>
          </p:cNvPr>
          <p:cNvSpPr txBox="1">
            <a:spLocks/>
          </p:cNvSpPr>
          <p:nvPr/>
        </p:nvSpPr>
        <p:spPr>
          <a:xfrm>
            <a:off x="1544235" y="783391"/>
            <a:ext cx="3767661"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r>
              <a:rPr lang="en-IN" dirty="0"/>
              <a:t>Predictions (CA)</a:t>
            </a:r>
          </a:p>
        </p:txBody>
      </p:sp>
      <p:sp>
        <p:nvSpPr>
          <p:cNvPr id="6" name="TextBox 5">
            <a:extLst>
              <a:ext uri="{FF2B5EF4-FFF2-40B4-BE49-F238E27FC236}">
                <a16:creationId xmlns:a16="http://schemas.microsoft.com/office/drawing/2014/main" id="{94609378-4519-6943-AD9A-68827646794E}"/>
              </a:ext>
            </a:extLst>
          </p:cNvPr>
          <p:cNvSpPr txBox="1"/>
          <p:nvPr/>
        </p:nvSpPr>
        <p:spPr>
          <a:xfrm>
            <a:off x="4742893" y="4390915"/>
            <a:ext cx="2796414" cy="307777"/>
          </a:xfrm>
          <a:prstGeom prst="rect">
            <a:avLst/>
          </a:prstGeom>
          <a:noFill/>
        </p:spPr>
        <p:txBody>
          <a:bodyPr wrap="square">
            <a:spAutoFit/>
          </a:bodyPr>
          <a:lstStyle/>
          <a:p>
            <a:pPr algn="ctr"/>
            <a:r>
              <a:rPr lang="en-IN" dirty="0">
                <a:solidFill>
                  <a:schemeClr val="tx1"/>
                </a:solidFill>
                <a:latin typeface="Muli"/>
              </a:rPr>
              <a:t>Prediction</a:t>
            </a:r>
          </a:p>
        </p:txBody>
      </p:sp>
      <p:pic>
        <p:nvPicPr>
          <p:cNvPr id="8" name="Picture 7">
            <a:extLst>
              <a:ext uri="{FF2B5EF4-FFF2-40B4-BE49-F238E27FC236}">
                <a16:creationId xmlns:a16="http://schemas.microsoft.com/office/drawing/2014/main" id="{19AD8FBE-F567-6AB3-408F-AE398CC7C4E0}"/>
              </a:ext>
            </a:extLst>
          </p:cNvPr>
          <p:cNvPicPr>
            <a:picLocks noChangeAspect="1"/>
          </p:cNvPicPr>
          <p:nvPr/>
        </p:nvPicPr>
        <p:blipFill>
          <a:blip r:embed="rId4"/>
          <a:stretch>
            <a:fillRect/>
          </a:stretch>
        </p:blipFill>
        <p:spPr>
          <a:xfrm>
            <a:off x="1368109" y="1856132"/>
            <a:ext cx="2796415" cy="2557204"/>
          </a:xfrm>
          <a:prstGeom prst="rect">
            <a:avLst/>
          </a:prstGeom>
        </p:spPr>
      </p:pic>
      <p:sp>
        <p:nvSpPr>
          <p:cNvPr id="9" name="TextBox 8">
            <a:extLst>
              <a:ext uri="{FF2B5EF4-FFF2-40B4-BE49-F238E27FC236}">
                <a16:creationId xmlns:a16="http://schemas.microsoft.com/office/drawing/2014/main" id="{16B64837-9B22-8CC0-8B82-6B16D165E122}"/>
              </a:ext>
            </a:extLst>
          </p:cNvPr>
          <p:cNvSpPr txBox="1"/>
          <p:nvPr/>
        </p:nvSpPr>
        <p:spPr>
          <a:xfrm>
            <a:off x="1368110" y="4408561"/>
            <a:ext cx="2796414" cy="307777"/>
          </a:xfrm>
          <a:prstGeom prst="rect">
            <a:avLst/>
          </a:prstGeom>
          <a:noFill/>
        </p:spPr>
        <p:txBody>
          <a:bodyPr wrap="square">
            <a:spAutoFit/>
          </a:bodyPr>
          <a:lstStyle/>
          <a:p>
            <a:pPr algn="ctr"/>
            <a:r>
              <a:rPr lang="en-IN" dirty="0">
                <a:solidFill>
                  <a:schemeClr val="tx1"/>
                </a:solidFill>
                <a:latin typeface="Muli"/>
              </a:rPr>
              <a:t>2021 LULC</a:t>
            </a:r>
          </a:p>
        </p:txBody>
      </p:sp>
      <p:sp>
        <p:nvSpPr>
          <p:cNvPr id="10" name="TextBox 9">
            <a:extLst>
              <a:ext uri="{FF2B5EF4-FFF2-40B4-BE49-F238E27FC236}">
                <a16:creationId xmlns:a16="http://schemas.microsoft.com/office/drawing/2014/main" id="{610E80F9-4B9B-FC50-C749-2BD9993AFC62}"/>
              </a:ext>
            </a:extLst>
          </p:cNvPr>
          <p:cNvSpPr txBox="1"/>
          <p:nvPr/>
        </p:nvSpPr>
        <p:spPr>
          <a:xfrm>
            <a:off x="1544235" y="1245353"/>
            <a:ext cx="2796414" cy="307777"/>
          </a:xfrm>
          <a:prstGeom prst="rect">
            <a:avLst/>
          </a:prstGeom>
          <a:noFill/>
        </p:spPr>
        <p:txBody>
          <a:bodyPr wrap="square">
            <a:spAutoFit/>
          </a:bodyPr>
          <a:lstStyle/>
          <a:p>
            <a:pPr algn="ctr"/>
            <a:r>
              <a:rPr lang="en-IN" dirty="0">
                <a:solidFill>
                  <a:schemeClr val="tx1"/>
                </a:solidFill>
                <a:latin typeface="Muli"/>
              </a:rPr>
              <a:t>2 Year Gap</a:t>
            </a:r>
          </a:p>
        </p:txBody>
      </p:sp>
    </p:spTree>
    <p:extLst>
      <p:ext uri="{BB962C8B-B14F-4D97-AF65-F5344CB8AC3E}">
        <p14:creationId xmlns:p14="http://schemas.microsoft.com/office/powerpoint/2010/main" val="4160264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3" name="Picture 2">
            <a:extLst>
              <a:ext uri="{FF2B5EF4-FFF2-40B4-BE49-F238E27FC236}">
                <a16:creationId xmlns:a16="http://schemas.microsoft.com/office/drawing/2014/main" id="{C7C190ED-06A0-88AF-1DD3-6A93B86B140F}"/>
              </a:ext>
            </a:extLst>
          </p:cNvPr>
          <p:cNvPicPr>
            <a:picLocks noChangeAspect="1"/>
          </p:cNvPicPr>
          <p:nvPr/>
        </p:nvPicPr>
        <p:blipFill>
          <a:blip r:embed="rId3"/>
          <a:srcRect/>
          <a:stretch/>
        </p:blipFill>
        <p:spPr>
          <a:xfrm>
            <a:off x="4753992" y="1860270"/>
            <a:ext cx="2774214" cy="2548291"/>
          </a:xfrm>
          <a:prstGeom prst="rect">
            <a:avLst/>
          </a:prstGeom>
        </p:spPr>
      </p:pic>
      <p:sp>
        <p:nvSpPr>
          <p:cNvPr id="4" name="Google Shape;430;p22">
            <a:extLst>
              <a:ext uri="{FF2B5EF4-FFF2-40B4-BE49-F238E27FC236}">
                <a16:creationId xmlns:a16="http://schemas.microsoft.com/office/drawing/2014/main" id="{678D3A35-B740-0941-96D3-7BF34A9B3111}"/>
              </a:ext>
            </a:extLst>
          </p:cNvPr>
          <p:cNvSpPr txBox="1">
            <a:spLocks/>
          </p:cNvSpPr>
          <p:nvPr/>
        </p:nvSpPr>
        <p:spPr>
          <a:xfrm>
            <a:off x="1544235" y="783391"/>
            <a:ext cx="3579197"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r>
              <a:rPr lang="en-IN" dirty="0"/>
              <a:t>Predictions (CA)</a:t>
            </a:r>
          </a:p>
        </p:txBody>
      </p:sp>
      <p:sp>
        <p:nvSpPr>
          <p:cNvPr id="6" name="TextBox 5">
            <a:extLst>
              <a:ext uri="{FF2B5EF4-FFF2-40B4-BE49-F238E27FC236}">
                <a16:creationId xmlns:a16="http://schemas.microsoft.com/office/drawing/2014/main" id="{94609378-4519-6943-AD9A-68827646794E}"/>
              </a:ext>
            </a:extLst>
          </p:cNvPr>
          <p:cNvSpPr txBox="1"/>
          <p:nvPr/>
        </p:nvSpPr>
        <p:spPr>
          <a:xfrm>
            <a:off x="4742893" y="4390915"/>
            <a:ext cx="2796414" cy="307777"/>
          </a:xfrm>
          <a:prstGeom prst="rect">
            <a:avLst/>
          </a:prstGeom>
          <a:noFill/>
        </p:spPr>
        <p:txBody>
          <a:bodyPr wrap="square">
            <a:spAutoFit/>
          </a:bodyPr>
          <a:lstStyle/>
          <a:p>
            <a:pPr algn="ctr"/>
            <a:r>
              <a:rPr lang="en-IN" dirty="0">
                <a:solidFill>
                  <a:schemeClr val="tx1"/>
                </a:solidFill>
                <a:latin typeface="Muli"/>
              </a:rPr>
              <a:t>Prediction</a:t>
            </a:r>
          </a:p>
        </p:txBody>
      </p:sp>
      <p:pic>
        <p:nvPicPr>
          <p:cNvPr id="8" name="Picture 7">
            <a:extLst>
              <a:ext uri="{FF2B5EF4-FFF2-40B4-BE49-F238E27FC236}">
                <a16:creationId xmlns:a16="http://schemas.microsoft.com/office/drawing/2014/main" id="{19AD8FBE-F567-6AB3-408F-AE398CC7C4E0}"/>
              </a:ext>
            </a:extLst>
          </p:cNvPr>
          <p:cNvPicPr>
            <a:picLocks noChangeAspect="1"/>
          </p:cNvPicPr>
          <p:nvPr/>
        </p:nvPicPr>
        <p:blipFill>
          <a:blip r:embed="rId4"/>
          <a:srcRect/>
          <a:stretch/>
        </p:blipFill>
        <p:spPr>
          <a:xfrm>
            <a:off x="1368109" y="1865952"/>
            <a:ext cx="2796415" cy="2545840"/>
          </a:xfrm>
          <a:prstGeom prst="rect">
            <a:avLst/>
          </a:prstGeom>
        </p:spPr>
      </p:pic>
      <p:sp>
        <p:nvSpPr>
          <p:cNvPr id="9" name="TextBox 8">
            <a:extLst>
              <a:ext uri="{FF2B5EF4-FFF2-40B4-BE49-F238E27FC236}">
                <a16:creationId xmlns:a16="http://schemas.microsoft.com/office/drawing/2014/main" id="{16B64837-9B22-8CC0-8B82-6B16D165E122}"/>
              </a:ext>
            </a:extLst>
          </p:cNvPr>
          <p:cNvSpPr txBox="1"/>
          <p:nvPr/>
        </p:nvSpPr>
        <p:spPr>
          <a:xfrm>
            <a:off x="1368110" y="4408561"/>
            <a:ext cx="2796414" cy="307777"/>
          </a:xfrm>
          <a:prstGeom prst="rect">
            <a:avLst/>
          </a:prstGeom>
          <a:noFill/>
        </p:spPr>
        <p:txBody>
          <a:bodyPr wrap="square">
            <a:spAutoFit/>
          </a:bodyPr>
          <a:lstStyle/>
          <a:p>
            <a:pPr algn="ctr"/>
            <a:r>
              <a:rPr lang="en-IN" dirty="0">
                <a:solidFill>
                  <a:schemeClr val="tx1"/>
                </a:solidFill>
                <a:latin typeface="Muli"/>
              </a:rPr>
              <a:t>2022 LULC</a:t>
            </a:r>
          </a:p>
        </p:txBody>
      </p:sp>
      <p:sp>
        <p:nvSpPr>
          <p:cNvPr id="2" name="TextBox 1">
            <a:extLst>
              <a:ext uri="{FF2B5EF4-FFF2-40B4-BE49-F238E27FC236}">
                <a16:creationId xmlns:a16="http://schemas.microsoft.com/office/drawing/2014/main" id="{E4416A2F-58FF-28F6-D62A-09D1B2B965B4}"/>
              </a:ext>
            </a:extLst>
          </p:cNvPr>
          <p:cNvSpPr txBox="1"/>
          <p:nvPr/>
        </p:nvSpPr>
        <p:spPr>
          <a:xfrm>
            <a:off x="1544235" y="1245353"/>
            <a:ext cx="2796414" cy="307777"/>
          </a:xfrm>
          <a:prstGeom prst="rect">
            <a:avLst/>
          </a:prstGeom>
          <a:noFill/>
        </p:spPr>
        <p:txBody>
          <a:bodyPr wrap="square">
            <a:spAutoFit/>
          </a:bodyPr>
          <a:lstStyle/>
          <a:p>
            <a:pPr algn="ctr"/>
            <a:r>
              <a:rPr lang="en-IN" dirty="0">
                <a:solidFill>
                  <a:schemeClr val="tx1"/>
                </a:solidFill>
                <a:latin typeface="Muli"/>
              </a:rPr>
              <a:t>2 Year Gap</a:t>
            </a:r>
          </a:p>
        </p:txBody>
      </p:sp>
    </p:spTree>
    <p:extLst>
      <p:ext uri="{BB962C8B-B14F-4D97-AF65-F5344CB8AC3E}">
        <p14:creationId xmlns:p14="http://schemas.microsoft.com/office/powerpoint/2010/main" val="3283980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3" name="Picture 2">
            <a:extLst>
              <a:ext uri="{FF2B5EF4-FFF2-40B4-BE49-F238E27FC236}">
                <a16:creationId xmlns:a16="http://schemas.microsoft.com/office/drawing/2014/main" id="{C7C190ED-06A0-88AF-1DD3-6A93B86B140F}"/>
              </a:ext>
            </a:extLst>
          </p:cNvPr>
          <p:cNvPicPr>
            <a:picLocks noChangeAspect="1"/>
          </p:cNvPicPr>
          <p:nvPr/>
        </p:nvPicPr>
        <p:blipFill>
          <a:blip r:embed="rId3"/>
          <a:srcRect/>
          <a:stretch/>
        </p:blipFill>
        <p:spPr>
          <a:xfrm>
            <a:off x="4749367" y="1860457"/>
            <a:ext cx="2783466" cy="2547917"/>
          </a:xfrm>
          <a:prstGeom prst="rect">
            <a:avLst/>
          </a:prstGeom>
        </p:spPr>
      </p:pic>
      <p:sp>
        <p:nvSpPr>
          <p:cNvPr id="4" name="Google Shape;430;p22">
            <a:extLst>
              <a:ext uri="{FF2B5EF4-FFF2-40B4-BE49-F238E27FC236}">
                <a16:creationId xmlns:a16="http://schemas.microsoft.com/office/drawing/2014/main" id="{678D3A35-B740-0941-96D3-7BF34A9B3111}"/>
              </a:ext>
            </a:extLst>
          </p:cNvPr>
          <p:cNvSpPr txBox="1">
            <a:spLocks/>
          </p:cNvSpPr>
          <p:nvPr/>
        </p:nvSpPr>
        <p:spPr>
          <a:xfrm>
            <a:off x="1544235" y="783391"/>
            <a:ext cx="4814684"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r>
              <a:rPr lang="en-IN" dirty="0"/>
              <a:t>Predictions (</a:t>
            </a:r>
            <a:r>
              <a:rPr lang="en-IN" dirty="0" err="1"/>
              <a:t>Molusce</a:t>
            </a:r>
            <a:r>
              <a:rPr lang="en-IN" dirty="0"/>
              <a:t>)</a:t>
            </a:r>
          </a:p>
        </p:txBody>
      </p:sp>
      <p:sp>
        <p:nvSpPr>
          <p:cNvPr id="6" name="TextBox 5">
            <a:extLst>
              <a:ext uri="{FF2B5EF4-FFF2-40B4-BE49-F238E27FC236}">
                <a16:creationId xmlns:a16="http://schemas.microsoft.com/office/drawing/2014/main" id="{94609378-4519-6943-AD9A-68827646794E}"/>
              </a:ext>
            </a:extLst>
          </p:cNvPr>
          <p:cNvSpPr txBox="1"/>
          <p:nvPr/>
        </p:nvSpPr>
        <p:spPr>
          <a:xfrm>
            <a:off x="4742893" y="4390915"/>
            <a:ext cx="2796414" cy="307777"/>
          </a:xfrm>
          <a:prstGeom prst="rect">
            <a:avLst/>
          </a:prstGeom>
          <a:noFill/>
        </p:spPr>
        <p:txBody>
          <a:bodyPr wrap="square">
            <a:spAutoFit/>
          </a:bodyPr>
          <a:lstStyle/>
          <a:p>
            <a:pPr algn="ctr"/>
            <a:r>
              <a:rPr lang="en-IN" dirty="0">
                <a:solidFill>
                  <a:schemeClr val="tx1"/>
                </a:solidFill>
                <a:latin typeface="Muli"/>
              </a:rPr>
              <a:t>Prediction</a:t>
            </a:r>
          </a:p>
        </p:txBody>
      </p:sp>
      <p:pic>
        <p:nvPicPr>
          <p:cNvPr id="8" name="Picture 7">
            <a:extLst>
              <a:ext uri="{FF2B5EF4-FFF2-40B4-BE49-F238E27FC236}">
                <a16:creationId xmlns:a16="http://schemas.microsoft.com/office/drawing/2014/main" id="{19AD8FBE-F567-6AB3-408F-AE398CC7C4E0}"/>
              </a:ext>
            </a:extLst>
          </p:cNvPr>
          <p:cNvPicPr>
            <a:picLocks noChangeAspect="1"/>
          </p:cNvPicPr>
          <p:nvPr/>
        </p:nvPicPr>
        <p:blipFill>
          <a:blip r:embed="rId4"/>
          <a:stretch>
            <a:fillRect/>
          </a:stretch>
        </p:blipFill>
        <p:spPr>
          <a:xfrm>
            <a:off x="1368109" y="1856132"/>
            <a:ext cx="2796415" cy="2557204"/>
          </a:xfrm>
          <a:prstGeom prst="rect">
            <a:avLst/>
          </a:prstGeom>
        </p:spPr>
      </p:pic>
      <p:sp>
        <p:nvSpPr>
          <p:cNvPr id="9" name="TextBox 8">
            <a:extLst>
              <a:ext uri="{FF2B5EF4-FFF2-40B4-BE49-F238E27FC236}">
                <a16:creationId xmlns:a16="http://schemas.microsoft.com/office/drawing/2014/main" id="{16B64837-9B22-8CC0-8B82-6B16D165E122}"/>
              </a:ext>
            </a:extLst>
          </p:cNvPr>
          <p:cNvSpPr txBox="1"/>
          <p:nvPr/>
        </p:nvSpPr>
        <p:spPr>
          <a:xfrm>
            <a:off x="1368110" y="4408561"/>
            <a:ext cx="2796414" cy="307777"/>
          </a:xfrm>
          <a:prstGeom prst="rect">
            <a:avLst/>
          </a:prstGeom>
          <a:noFill/>
        </p:spPr>
        <p:txBody>
          <a:bodyPr wrap="square">
            <a:spAutoFit/>
          </a:bodyPr>
          <a:lstStyle/>
          <a:p>
            <a:pPr algn="ctr"/>
            <a:r>
              <a:rPr lang="en-IN" dirty="0">
                <a:solidFill>
                  <a:schemeClr val="tx1"/>
                </a:solidFill>
                <a:latin typeface="Muli"/>
              </a:rPr>
              <a:t>2021 LULC</a:t>
            </a:r>
          </a:p>
        </p:txBody>
      </p:sp>
    </p:spTree>
    <p:extLst>
      <p:ext uri="{BB962C8B-B14F-4D97-AF65-F5344CB8AC3E}">
        <p14:creationId xmlns:p14="http://schemas.microsoft.com/office/powerpoint/2010/main" val="3003865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3" name="Picture 2">
            <a:extLst>
              <a:ext uri="{FF2B5EF4-FFF2-40B4-BE49-F238E27FC236}">
                <a16:creationId xmlns:a16="http://schemas.microsoft.com/office/drawing/2014/main" id="{C7C190ED-06A0-88AF-1DD3-6A93B86B140F}"/>
              </a:ext>
            </a:extLst>
          </p:cNvPr>
          <p:cNvPicPr>
            <a:picLocks noChangeAspect="1"/>
          </p:cNvPicPr>
          <p:nvPr/>
        </p:nvPicPr>
        <p:blipFill>
          <a:blip r:embed="rId3"/>
          <a:srcRect/>
          <a:stretch/>
        </p:blipFill>
        <p:spPr>
          <a:xfrm>
            <a:off x="4753992" y="1867855"/>
            <a:ext cx="2774214" cy="2533121"/>
          </a:xfrm>
          <a:prstGeom prst="rect">
            <a:avLst/>
          </a:prstGeom>
        </p:spPr>
      </p:pic>
      <p:sp>
        <p:nvSpPr>
          <p:cNvPr id="4" name="Google Shape;430;p22">
            <a:extLst>
              <a:ext uri="{FF2B5EF4-FFF2-40B4-BE49-F238E27FC236}">
                <a16:creationId xmlns:a16="http://schemas.microsoft.com/office/drawing/2014/main" id="{678D3A35-B740-0941-96D3-7BF34A9B3111}"/>
              </a:ext>
            </a:extLst>
          </p:cNvPr>
          <p:cNvSpPr txBox="1">
            <a:spLocks/>
          </p:cNvSpPr>
          <p:nvPr/>
        </p:nvSpPr>
        <p:spPr>
          <a:xfrm>
            <a:off x="1544234" y="783391"/>
            <a:ext cx="4968247"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r>
              <a:rPr lang="en-IN" dirty="0"/>
              <a:t>Predictions (</a:t>
            </a:r>
            <a:r>
              <a:rPr lang="en-IN" dirty="0" err="1"/>
              <a:t>Molusce</a:t>
            </a:r>
            <a:r>
              <a:rPr lang="en-IN" dirty="0"/>
              <a:t>)</a:t>
            </a:r>
          </a:p>
        </p:txBody>
      </p:sp>
      <p:sp>
        <p:nvSpPr>
          <p:cNvPr id="6" name="TextBox 5">
            <a:extLst>
              <a:ext uri="{FF2B5EF4-FFF2-40B4-BE49-F238E27FC236}">
                <a16:creationId xmlns:a16="http://schemas.microsoft.com/office/drawing/2014/main" id="{94609378-4519-6943-AD9A-68827646794E}"/>
              </a:ext>
            </a:extLst>
          </p:cNvPr>
          <p:cNvSpPr txBox="1"/>
          <p:nvPr/>
        </p:nvSpPr>
        <p:spPr>
          <a:xfrm>
            <a:off x="4742893" y="4390915"/>
            <a:ext cx="2796414" cy="307777"/>
          </a:xfrm>
          <a:prstGeom prst="rect">
            <a:avLst/>
          </a:prstGeom>
          <a:noFill/>
        </p:spPr>
        <p:txBody>
          <a:bodyPr wrap="square">
            <a:spAutoFit/>
          </a:bodyPr>
          <a:lstStyle/>
          <a:p>
            <a:pPr algn="ctr"/>
            <a:r>
              <a:rPr lang="en-IN" dirty="0">
                <a:solidFill>
                  <a:schemeClr val="tx1"/>
                </a:solidFill>
                <a:latin typeface="Muli"/>
              </a:rPr>
              <a:t>Prediction</a:t>
            </a:r>
          </a:p>
        </p:txBody>
      </p:sp>
      <p:pic>
        <p:nvPicPr>
          <p:cNvPr id="8" name="Picture 7">
            <a:extLst>
              <a:ext uri="{FF2B5EF4-FFF2-40B4-BE49-F238E27FC236}">
                <a16:creationId xmlns:a16="http://schemas.microsoft.com/office/drawing/2014/main" id="{19AD8FBE-F567-6AB3-408F-AE398CC7C4E0}"/>
              </a:ext>
            </a:extLst>
          </p:cNvPr>
          <p:cNvPicPr>
            <a:picLocks noChangeAspect="1"/>
          </p:cNvPicPr>
          <p:nvPr/>
        </p:nvPicPr>
        <p:blipFill>
          <a:blip r:embed="rId4"/>
          <a:srcRect/>
          <a:stretch/>
        </p:blipFill>
        <p:spPr>
          <a:xfrm>
            <a:off x="1368109" y="1865952"/>
            <a:ext cx="2796415" cy="2545840"/>
          </a:xfrm>
          <a:prstGeom prst="rect">
            <a:avLst/>
          </a:prstGeom>
        </p:spPr>
      </p:pic>
      <p:sp>
        <p:nvSpPr>
          <p:cNvPr id="9" name="TextBox 8">
            <a:extLst>
              <a:ext uri="{FF2B5EF4-FFF2-40B4-BE49-F238E27FC236}">
                <a16:creationId xmlns:a16="http://schemas.microsoft.com/office/drawing/2014/main" id="{16B64837-9B22-8CC0-8B82-6B16D165E122}"/>
              </a:ext>
            </a:extLst>
          </p:cNvPr>
          <p:cNvSpPr txBox="1"/>
          <p:nvPr/>
        </p:nvSpPr>
        <p:spPr>
          <a:xfrm>
            <a:off x="1368110" y="4408561"/>
            <a:ext cx="2796414" cy="307777"/>
          </a:xfrm>
          <a:prstGeom prst="rect">
            <a:avLst/>
          </a:prstGeom>
          <a:noFill/>
        </p:spPr>
        <p:txBody>
          <a:bodyPr wrap="square">
            <a:spAutoFit/>
          </a:bodyPr>
          <a:lstStyle/>
          <a:p>
            <a:pPr algn="ctr"/>
            <a:r>
              <a:rPr lang="en-IN" dirty="0">
                <a:solidFill>
                  <a:schemeClr val="tx1"/>
                </a:solidFill>
                <a:latin typeface="Muli"/>
              </a:rPr>
              <a:t>2022 LULC</a:t>
            </a:r>
          </a:p>
        </p:txBody>
      </p:sp>
    </p:spTree>
    <p:extLst>
      <p:ext uri="{BB962C8B-B14F-4D97-AF65-F5344CB8AC3E}">
        <p14:creationId xmlns:p14="http://schemas.microsoft.com/office/powerpoint/2010/main" val="3203894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34"/>
          <p:cNvSpPr/>
          <p:nvPr/>
        </p:nvSpPr>
        <p:spPr>
          <a:xfrm rot="-5400000">
            <a:off x="1053600" y="533300"/>
            <a:ext cx="1855800" cy="21429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92" name="Google Shape;592;p34"/>
          <p:cNvSpPr txBox="1">
            <a:spLocks noGrp="1"/>
          </p:cNvSpPr>
          <p:nvPr>
            <p:ph type="ctrTitle" idx="4294967295"/>
          </p:nvPr>
        </p:nvSpPr>
        <p:spPr>
          <a:xfrm>
            <a:off x="3152775" y="1354750"/>
            <a:ext cx="45621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8000"/>
              <a:t>Thanks!</a:t>
            </a:r>
            <a:endParaRPr sz="8000"/>
          </a:p>
        </p:txBody>
      </p:sp>
      <p:sp>
        <p:nvSpPr>
          <p:cNvPr id="593" name="Google Shape;593;p34"/>
          <p:cNvSpPr txBox="1">
            <a:spLocks noGrp="1"/>
          </p:cNvSpPr>
          <p:nvPr>
            <p:ph type="body" idx="4294967295"/>
          </p:nvPr>
        </p:nvSpPr>
        <p:spPr>
          <a:xfrm>
            <a:off x="3286468" y="2400250"/>
            <a:ext cx="4562100" cy="246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dirty="0"/>
          </a:p>
        </p:txBody>
      </p:sp>
      <p:sp>
        <p:nvSpPr>
          <p:cNvPr id="594" name="Google Shape;594;p34"/>
          <p:cNvSpPr/>
          <p:nvPr/>
        </p:nvSpPr>
        <p:spPr>
          <a:xfrm>
            <a:off x="1591719" y="1212580"/>
            <a:ext cx="779561" cy="77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16</a:t>
            </a:fld>
            <a:endParaRPr/>
          </a:p>
        </p:txBody>
      </p:sp>
    </p:spTree>
  </p:cSld>
  <p:clrMapOvr>
    <a:masterClrMapping/>
  </p:clrMapOvr>
</p:sld>
</file>

<file path=ppt/theme/theme1.xml><?xml version="1.0" encoding="utf-8"?>
<a:theme xmlns:a="http://schemas.openxmlformats.org/drawingml/2006/main" name="Imogen template">
  <a:themeElements>
    <a:clrScheme name="Custom 347">
      <a:dk1>
        <a:srgbClr val="FFFFFF"/>
      </a:dk1>
      <a:lt1>
        <a:srgbClr val="0E293C"/>
      </a:lt1>
      <a:dk2>
        <a:srgbClr val="BBC9D3"/>
      </a:dk2>
      <a:lt2>
        <a:srgbClr val="184769"/>
      </a:lt2>
      <a:accent1>
        <a:srgbClr val="00E1C6"/>
      </a:accent1>
      <a:accent2>
        <a:srgbClr val="19BBD5"/>
      </a:accent2>
      <a:accent3>
        <a:srgbClr val="2C9DDE"/>
      </a:accent3>
      <a:accent4>
        <a:srgbClr val="3274E1"/>
      </a:accent4>
      <a:accent5>
        <a:srgbClr val="4C4ED5"/>
      </a:accent5>
      <a:accent6>
        <a:srgbClr val="5CF55F"/>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418</Words>
  <Application>Microsoft Office PowerPoint</Application>
  <PresentationFormat>On-screen Show (16:9)</PresentationFormat>
  <Paragraphs>113</Paragraphs>
  <Slides>16</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Arial</vt:lpstr>
      <vt:lpstr>Book Antiqua</vt:lpstr>
      <vt:lpstr>Calibri</vt:lpstr>
      <vt:lpstr>Calibri Light</vt:lpstr>
      <vt:lpstr>Helvetica Neue</vt:lpstr>
      <vt:lpstr>Muli</vt:lpstr>
      <vt:lpstr>Nixie One</vt:lpstr>
      <vt:lpstr>Imogen template</vt:lpstr>
      <vt:lpstr>office theme</vt:lpstr>
      <vt:lpstr>URBAN GROWTH PREDICTION</vt:lpstr>
      <vt:lpstr>Literature Review : Conclusions</vt:lpstr>
      <vt:lpstr>Problem Statement</vt:lpstr>
      <vt:lpstr>Objective</vt:lpstr>
      <vt:lpstr>The Dataset</vt:lpstr>
      <vt:lpstr>Models</vt:lpstr>
      <vt:lpstr>CA Prediction Accuracy with 1-year gap</vt:lpstr>
      <vt:lpstr>CA Prediction Accuracy with 2-year gap</vt:lpstr>
      <vt:lpstr>Molusce Accuracy with  2-year gap</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GROWTH PREDICTION</dc:title>
  <cp:lastModifiedBy>Mohit Gupta</cp:lastModifiedBy>
  <cp:revision>3</cp:revision>
  <dcterms:modified xsi:type="dcterms:W3CDTF">2025-11-25T07:27:51Z</dcterms:modified>
</cp:coreProperties>
</file>